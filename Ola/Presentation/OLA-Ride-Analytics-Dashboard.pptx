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4F8F1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3419" y="384181"/>
            <a:ext cx="2830195" cy="429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067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4A49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67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4A49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4F8F1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67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67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4F8F1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3419" y="377116"/>
            <a:ext cx="8177161" cy="5646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067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68762" y="1065032"/>
            <a:ext cx="3684904" cy="3464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4A49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3419" y="1888921"/>
            <a:ext cx="3265170" cy="880744"/>
          </a:xfrm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ts val="3429"/>
              </a:lnSpc>
              <a:spcBef>
                <a:spcPts val="70"/>
              </a:spcBef>
            </a:pPr>
            <a:r>
              <a:rPr dirty="0" sz="2750"/>
              <a:t>OLA</a:t>
            </a:r>
            <a:r>
              <a:rPr dirty="0" sz="2750" spc="-15"/>
              <a:t> </a:t>
            </a:r>
            <a:r>
              <a:rPr dirty="0" sz="2750"/>
              <a:t>Ride</a:t>
            </a:r>
            <a:r>
              <a:rPr dirty="0" sz="2750" spc="-10"/>
              <a:t> Analytics Dashboard</a:t>
            </a:r>
            <a:endParaRPr sz="2750"/>
          </a:p>
        </p:txBody>
      </p:sp>
      <p:sp>
        <p:nvSpPr>
          <p:cNvPr id="4" name="object 4" descr=""/>
          <p:cNvSpPr txBox="1"/>
          <p:nvPr/>
        </p:nvSpPr>
        <p:spPr>
          <a:xfrm>
            <a:off x="483419" y="2991929"/>
            <a:ext cx="19977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Power</a:t>
            </a:r>
            <a:r>
              <a:rPr dirty="0" sz="1100" spc="-4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BI</a:t>
            </a:r>
            <a:r>
              <a:rPr dirty="0" sz="1100" spc="-3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·</a:t>
            </a:r>
            <a:r>
              <a:rPr dirty="0" sz="1100" spc="-3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SQL</a:t>
            </a:r>
            <a:r>
              <a:rPr dirty="0" sz="1100" spc="-3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·</a:t>
            </a:r>
            <a:r>
              <a:rPr dirty="0" sz="1100" spc="-3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Python</a:t>
            </a:r>
            <a:r>
              <a:rPr dirty="0" sz="1100" spc="-3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·</a:t>
            </a:r>
            <a:r>
              <a:rPr dirty="0" sz="1100" spc="-3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Excel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3419" y="1883638"/>
            <a:ext cx="2858135" cy="444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/>
              <a:t>Project</a:t>
            </a:r>
            <a:r>
              <a:rPr dirty="0" sz="2750" spc="-25"/>
              <a:t> </a:t>
            </a:r>
            <a:r>
              <a:rPr dirty="0" sz="2750" spc="-10"/>
              <a:t>Overview</a:t>
            </a:r>
            <a:endParaRPr sz="2750"/>
          </a:p>
        </p:txBody>
      </p:sp>
      <p:sp>
        <p:nvSpPr>
          <p:cNvPr id="4" name="object 4" descr=""/>
          <p:cNvSpPr txBox="1"/>
          <p:nvPr/>
        </p:nvSpPr>
        <p:spPr>
          <a:xfrm>
            <a:off x="483419" y="2488336"/>
            <a:ext cx="4706620" cy="694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An</a:t>
            </a:r>
            <a:r>
              <a:rPr dirty="0" sz="11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end-to-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end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analytics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project</a:t>
            </a:r>
            <a:r>
              <a:rPr dirty="0" sz="11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designed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to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analyze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bookings,</a:t>
            </a:r>
            <a:r>
              <a:rPr dirty="0" sz="11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revenue, cancellations,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and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ratings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—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delivering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actionable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business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insights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through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a</a:t>
            </a:r>
            <a:r>
              <a:rPr dirty="0" sz="1100" spc="-3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unified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Power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BI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dashboard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built</a:t>
            </a:r>
            <a:r>
              <a:rPr dirty="0" sz="1100" spc="-3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with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SQL,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Python,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and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Excel.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289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/>
              <a:t>Business</a:t>
            </a:r>
            <a:r>
              <a:rPr dirty="0" sz="2750" spc="-20"/>
              <a:t> </a:t>
            </a:r>
            <a:r>
              <a:rPr dirty="0" sz="2750" spc="-10"/>
              <a:t>Objectives</a:t>
            </a:r>
            <a:endParaRPr sz="2750"/>
          </a:p>
        </p:txBody>
      </p:sp>
      <p:grpSp>
        <p:nvGrpSpPr>
          <p:cNvPr id="3" name="object 3" descr=""/>
          <p:cNvGrpSpPr/>
          <p:nvPr/>
        </p:nvGrpSpPr>
        <p:grpSpPr>
          <a:xfrm>
            <a:off x="493737" y="1241523"/>
            <a:ext cx="4010025" cy="1625600"/>
            <a:chOff x="493737" y="1241523"/>
            <a:chExt cx="4010025" cy="1625600"/>
          </a:xfrm>
        </p:grpSpPr>
        <p:sp>
          <p:nvSpPr>
            <p:cNvPr id="4" name="object 4" descr=""/>
            <p:cNvSpPr/>
            <p:nvPr/>
          </p:nvSpPr>
          <p:spPr>
            <a:xfrm>
              <a:off x="496119" y="1243905"/>
              <a:ext cx="4005579" cy="1620520"/>
            </a:xfrm>
            <a:custGeom>
              <a:avLst/>
              <a:gdLst/>
              <a:ahLst/>
              <a:cxnLst/>
              <a:rect l="l" t="t" r="r" b="b"/>
              <a:pathLst>
                <a:path w="4005579" h="1620520">
                  <a:moveTo>
                    <a:pt x="3877373" y="0"/>
                  </a:moveTo>
                  <a:lnTo>
                    <a:pt x="127591" y="0"/>
                  </a:lnTo>
                  <a:lnTo>
                    <a:pt x="78126" y="10092"/>
                  </a:lnTo>
                  <a:lnTo>
                    <a:pt x="37547" y="37547"/>
                  </a:lnTo>
                  <a:lnTo>
                    <a:pt x="10093" y="78127"/>
                  </a:lnTo>
                  <a:lnTo>
                    <a:pt x="0" y="127596"/>
                  </a:lnTo>
                  <a:lnTo>
                    <a:pt x="0" y="1492618"/>
                  </a:lnTo>
                  <a:lnTo>
                    <a:pt x="10093" y="1542087"/>
                  </a:lnTo>
                  <a:lnTo>
                    <a:pt x="37547" y="1582667"/>
                  </a:lnTo>
                  <a:lnTo>
                    <a:pt x="78126" y="1610122"/>
                  </a:lnTo>
                  <a:lnTo>
                    <a:pt x="127591" y="1620215"/>
                  </a:lnTo>
                  <a:lnTo>
                    <a:pt x="3877373" y="1620215"/>
                  </a:lnTo>
                  <a:lnTo>
                    <a:pt x="3926837" y="1610122"/>
                  </a:lnTo>
                  <a:lnTo>
                    <a:pt x="3967418" y="1582667"/>
                  </a:lnTo>
                  <a:lnTo>
                    <a:pt x="3994875" y="1542087"/>
                  </a:lnTo>
                  <a:lnTo>
                    <a:pt x="4004970" y="1492618"/>
                  </a:lnTo>
                  <a:lnTo>
                    <a:pt x="4004970" y="127596"/>
                  </a:lnTo>
                  <a:lnTo>
                    <a:pt x="3994875" y="78127"/>
                  </a:lnTo>
                  <a:lnTo>
                    <a:pt x="3967418" y="37547"/>
                  </a:lnTo>
                  <a:lnTo>
                    <a:pt x="3926837" y="10092"/>
                  </a:lnTo>
                  <a:lnTo>
                    <a:pt x="3877373" y="0"/>
                  </a:lnTo>
                  <a:close/>
                </a:path>
              </a:pathLst>
            </a:custGeom>
            <a:solidFill>
              <a:srgbClr val="D1EE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96119" y="1243905"/>
              <a:ext cx="4005579" cy="1620520"/>
            </a:xfrm>
            <a:custGeom>
              <a:avLst/>
              <a:gdLst/>
              <a:ahLst/>
              <a:cxnLst/>
              <a:rect l="l" t="t" r="r" b="b"/>
              <a:pathLst>
                <a:path w="4005579" h="1620520">
                  <a:moveTo>
                    <a:pt x="0" y="127596"/>
                  </a:moveTo>
                  <a:lnTo>
                    <a:pt x="10093" y="78127"/>
                  </a:lnTo>
                  <a:lnTo>
                    <a:pt x="37547" y="37547"/>
                  </a:lnTo>
                  <a:lnTo>
                    <a:pt x="78126" y="10092"/>
                  </a:lnTo>
                  <a:lnTo>
                    <a:pt x="127591" y="0"/>
                  </a:lnTo>
                  <a:lnTo>
                    <a:pt x="3877373" y="0"/>
                  </a:lnTo>
                  <a:lnTo>
                    <a:pt x="3926837" y="10092"/>
                  </a:lnTo>
                  <a:lnTo>
                    <a:pt x="3967418" y="37547"/>
                  </a:lnTo>
                  <a:lnTo>
                    <a:pt x="3994875" y="78127"/>
                  </a:lnTo>
                  <a:lnTo>
                    <a:pt x="4004970" y="127596"/>
                  </a:lnTo>
                  <a:lnTo>
                    <a:pt x="4004970" y="1492618"/>
                  </a:lnTo>
                  <a:lnTo>
                    <a:pt x="3994875" y="1542087"/>
                  </a:lnTo>
                  <a:lnTo>
                    <a:pt x="3967418" y="1582667"/>
                  </a:lnTo>
                  <a:lnTo>
                    <a:pt x="3926837" y="1610122"/>
                  </a:lnTo>
                  <a:lnTo>
                    <a:pt x="3877373" y="1620215"/>
                  </a:lnTo>
                  <a:lnTo>
                    <a:pt x="127591" y="1620215"/>
                  </a:lnTo>
                  <a:lnTo>
                    <a:pt x="78126" y="1610122"/>
                  </a:lnTo>
                  <a:lnTo>
                    <a:pt x="37547" y="1582667"/>
                  </a:lnTo>
                  <a:lnTo>
                    <a:pt x="10093" y="1542087"/>
                  </a:lnTo>
                  <a:lnTo>
                    <a:pt x="0" y="1492618"/>
                  </a:lnTo>
                  <a:lnTo>
                    <a:pt x="0" y="127596"/>
                  </a:lnTo>
                  <a:close/>
                </a:path>
              </a:pathLst>
            </a:custGeom>
            <a:ln w="4762">
              <a:solidFill>
                <a:srgbClr val="B7D4C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42640" y="1390421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638" y="0"/>
                  </a:moveTo>
                  <a:lnTo>
                    <a:pt x="164130" y="5657"/>
                  </a:lnTo>
                  <a:lnTo>
                    <a:pt x="119469" y="21750"/>
                  </a:lnTo>
                  <a:lnTo>
                    <a:pt x="79974" y="46961"/>
                  </a:lnTo>
                  <a:lnTo>
                    <a:pt x="46962" y="79973"/>
                  </a:lnTo>
                  <a:lnTo>
                    <a:pt x="21750" y="119467"/>
                  </a:lnTo>
                  <a:lnTo>
                    <a:pt x="5657" y="164128"/>
                  </a:lnTo>
                  <a:lnTo>
                    <a:pt x="0" y="212636"/>
                  </a:lnTo>
                  <a:lnTo>
                    <a:pt x="5657" y="261144"/>
                  </a:lnTo>
                  <a:lnTo>
                    <a:pt x="21750" y="305804"/>
                  </a:lnTo>
                  <a:lnTo>
                    <a:pt x="46962" y="345299"/>
                  </a:lnTo>
                  <a:lnTo>
                    <a:pt x="79974" y="378310"/>
                  </a:lnTo>
                  <a:lnTo>
                    <a:pt x="119469" y="403522"/>
                  </a:lnTo>
                  <a:lnTo>
                    <a:pt x="164130" y="419615"/>
                  </a:lnTo>
                  <a:lnTo>
                    <a:pt x="212638" y="425272"/>
                  </a:lnTo>
                  <a:lnTo>
                    <a:pt x="261146" y="419615"/>
                  </a:lnTo>
                  <a:lnTo>
                    <a:pt x="305807" y="403522"/>
                  </a:lnTo>
                  <a:lnTo>
                    <a:pt x="345302" y="378310"/>
                  </a:lnTo>
                  <a:lnTo>
                    <a:pt x="378314" y="345299"/>
                  </a:lnTo>
                  <a:lnTo>
                    <a:pt x="403525" y="305804"/>
                  </a:lnTo>
                  <a:lnTo>
                    <a:pt x="419618" y="261144"/>
                  </a:lnTo>
                  <a:lnTo>
                    <a:pt x="425276" y="212636"/>
                  </a:lnTo>
                  <a:lnTo>
                    <a:pt x="419618" y="164128"/>
                  </a:lnTo>
                  <a:lnTo>
                    <a:pt x="403525" y="119467"/>
                  </a:lnTo>
                  <a:lnTo>
                    <a:pt x="378314" y="79973"/>
                  </a:lnTo>
                  <a:lnTo>
                    <a:pt x="345302" y="46961"/>
                  </a:lnTo>
                  <a:lnTo>
                    <a:pt x="305807" y="21750"/>
                  </a:lnTo>
                  <a:lnTo>
                    <a:pt x="261146" y="5657"/>
                  </a:lnTo>
                  <a:lnTo>
                    <a:pt x="212638" y="0"/>
                  </a:lnTo>
                  <a:close/>
                </a:path>
              </a:pathLst>
            </a:custGeom>
            <a:solidFill>
              <a:srgbClr val="0067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9618" y="1507324"/>
              <a:ext cx="191319" cy="191312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629940" y="1941131"/>
            <a:ext cx="3440429" cy="723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Monitor</a:t>
            </a:r>
            <a:r>
              <a:rPr dirty="0" sz="1350" spc="-55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4A4949"/>
                </a:solidFill>
                <a:latin typeface="Arial"/>
                <a:cs typeface="Arial"/>
              </a:rPr>
              <a:t>Bookings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Track</a:t>
            </a:r>
            <a:r>
              <a:rPr dirty="0" sz="1100" spc="-3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booking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trends,</a:t>
            </a:r>
            <a:r>
              <a:rPr dirty="0" sz="1100" spc="-3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volumes,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and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status</a:t>
            </a:r>
            <a:r>
              <a:rPr dirty="0" sz="1100" spc="-3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breakdowns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over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time.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640459" y="1241523"/>
            <a:ext cx="4010025" cy="1625600"/>
            <a:chOff x="4640459" y="1241523"/>
            <a:chExt cx="4010025" cy="1625600"/>
          </a:xfrm>
        </p:grpSpPr>
        <p:sp>
          <p:nvSpPr>
            <p:cNvPr id="10" name="object 10" descr=""/>
            <p:cNvSpPr/>
            <p:nvPr/>
          </p:nvSpPr>
          <p:spPr>
            <a:xfrm>
              <a:off x="4642840" y="1243905"/>
              <a:ext cx="4005579" cy="1620520"/>
            </a:xfrm>
            <a:custGeom>
              <a:avLst/>
              <a:gdLst/>
              <a:ahLst/>
              <a:cxnLst/>
              <a:rect l="l" t="t" r="r" b="b"/>
              <a:pathLst>
                <a:path w="4005579" h="1620520">
                  <a:moveTo>
                    <a:pt x="3877449" y="0"/>
                  </a:moveTo>
                  <a:lnTo>
                    <a:pt x="127591" y="0"/>
                  </a:lnTo>
                  <a:lnTo>
                    <a:pt x="78126" y="10092"/>
                  </a:lnTo>
                  <a:lnTo>
                    <a:pt x="37547" y="37547"/>
                  </a:lnTo>
                  <a:lnTo>
                    <a:pt x="10093" y="78127"/>
                  </a:lnTo>
                  <a:lnTo>
                    <a:pt x="0" y="127596"/>
                  </a:lnTo>
                  <a:lnTo>
                    <a:pt x="0" y="1492618"/>
                  </a:lnTo>
                  <a:lnTo>
                    <a:pt x="10093" y="1542087"/>
                  </a:lnTo>
                  <a:lnTo>
                    <a:pt x="37547" y="1582667"/>
                  </a:lnTo>
                  <a:lnTo>
                    <a:pt x="78126" y="1610122"/>
                  </a:lnTo>
                  <a:lnTo>
                    <a:pt x="127591" y="1620215"/>
                  </a:lnTo>
                  <a:lnTo>
                    <a:pt x="3877449" y="1620215"/>
                  </a:lnTo>
                  <a:lnTo>
                    <a:pt x="3926911" y="1610122"/>
                  </a:lnTo>
                  <a:lnTo>
                    <a:pt x="3967487" y="1582667"/>
                  </a:lnTo>
                  <a:lnTo>
                    <a:pt x="3994941" y="1542087"/>
                  </a:lnTo>
                  <a:lnTo>
                    <a:pt x="4005033" y="1492618"/>
                  </a:lnTo>
                  <a:lnTo>
                    <a:pt x="4005033" y="127596"/>
                  </a:lnTo>
                  <a:lnTo>
                    <a:pt x="3994941" y="78127"/>
                  </a:lnTo>
                  <a:lnTo>
                    <a:pt x="3967487" y="37547"/>
                  </a:lnTo>
                  <a:lnTo>
                    <a:pt x="3926911" y="10092"/>
                  </a:lnTo>
                  <a:lnTo>
                    <a:pt x="3877449" y="0"/>
                  </a:lnTo>
                  <a:close/>
                </a:path>
              </a:pathLst>
            </a:custGeom>
            <a:solidFill>
              <a:srgbClr val="D1EE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642840" y="1243905"/>
              <a:ext cx="4005579" cy="1620520"/>
            </a:xfrm>
            <a:custGeom>
              <a:avLst/>
              <a:gdLst/>
              <a:ahLst/>
              <a:cxnLst/>
              <a:rect l="l" t="t" r="r" b="b"/>
              <a:pathLst>
                <a:path w="4005579" h="1620520">
                  <a:moveTo>
                    <a:pt x="0" y="127596"/>
                  </a:moveTo>
                  <a:lnTo>
                    <a:pt x="10093" y="78127"/>
                  </a:lnTo>
                  <a:lnTo>
                    <a:pt x="37547" y="37547"/>
                  </a:lnTo>
                  <a:lnTo>
                    <a:pt x="78126" y="10092"/>
                  </a:lnTo>
                  <a:lnTo>
                    <a:pt x="127591" y="0"/>
                  </a:lnTo>
                  <a:lnTo>
                    <a:pt x="3877449" y="0"/>
                  </a:lnTo>
                  <a:lnTo>
                    <a:pt x="3926911" y="10092"/>
                  </a:lnTo>
                  <a:lnTo>
                    <a:pt x="3967487" y="37547"/>
                  </a:lnTo>
                  <a:lnTo>
                    <a:pt x="3994941" y="78127"/>
                  </a:lnTo>
                  <a:lnTo>
                    <a:pt x="4005033" y="127596"/>
                  </a:lnTo>
                  <a:lnTo>
                    <a:pt x="4005033" y="1492618"/>
                  </a:lnTo>
                  <a:lnTo>
                    <a:pt x="3994941" y="1542087"/>
                  </a:lnTo>
                  <a:lnTo>
                    <a:pt x="3967487" y="1582667"/>
                  </a:lnTo>
                  <a:lnTo>
                    <a:pt x="3926911" y="1610122"/>
                  </a:lnTo>
                  <a:lnTo>
                    <a:pt x="3877449" y="1620215"/>
                  </a:lnTo>
                  <a:lnTo>
                    <a:pt x="127591" y="1620215"/>
                  </a:lnTo>
                  <a:lnTo>
                    <a:pt x="78126" y="1610122"/>
                  </a:lnTo>
                  <a:lnTo>
                    <a:pt x="37547" y="1582667"/>
                  </a:lnTo>
                  <a:lnTo>
                    <a:pt x="10093" y="1542087"/>
                  </a:lnTo>
                  <a:lnTo>
                    <a:pt x="0" y="1492618"/>
                  </a:lnTo>
                  <a:lnTo>
                    <a:pt x="0" y="127596"/>
                  </a:lnTo>
                  <a:close/>
                </a:path>
              </a:pathLst>
            </a:custGeom>
            <a:ln w="4762">
              <a:solidFill>
                <a:srgbClr val="B7D4C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789360" y="1390421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638" y="0"/>
                  </a:moveTo>
                  <a:lnTo>
                    <a:pt x="164130" y="5657"/>
                  </a:lnTo>
                  <a:lnTo>
                    <a:pt x="119469" y="21750"/>
                  </a:lnTo>
                  <a:lnTo>
                    <a:pt x="79974" y="46961"/>
                  </a:lnTo>
                  <a:lnTo>
                    <a:pt x="46962" y="79973"/>
                  </a:lnTo>
                  <a:lnTo>
                    <a:pt x="21750" y="119467"/>
                  </a:lnTo>
                  <a:lnTo>
                    <a:pt x="5657" y="164128"/>
                  </a:lnTo>
                  <a:lnTo>
                    <a:pt x="0" y="212636"/>
                  </a:lnTo>
                  <a:lnTo>
                    <a:pt x="5657" y="261144"/>
                  </a:lnTo>
                  <a:lnTo>
                    <a:pt x="21750" y="305804"/>
                  </a:lnTo>
                  <a:lnTo>
                    <a:pt x="46962" y="345299"/>
                  </a:lnTo>
                  <a:lnTo>
                    <a:pt x="79974" y="378310"/>
                  </a:lnTo>
                  <a:lnTo>
                    <a:pt x="119469" y="403522"/>
                  </a:lnTo>
                  <a:lnTo>
                    <a:pt x="164130" y="419615"/>
                  </a:lnTo>
                  <a:lnTo>
                    <a:pt x="212638" y="425272"/>
                  </a:lnTo>
                  <a:lnTo>
                    <a:pt x="261146" y="419615"/>
                  </a:lnTo>
                  <a:lnTo>
                    <a:pt x="305807" y="403522"/>
                  </a:lnTo>
                  <a:lnTo>
                    <a:pt x="345302" y="378310"/>
                  </a:lnTo>
                  <a:lnTo>
                    <a:pt x="378314" y="345299"/>
                  </a:lnTo>
                  <a:lnTo>
                    <a:pt x="403525" y="305804"/>
                  </a:lnTo>
                  <a:lnTo>
                    <a:pt x="419618" y="261144"/>
                  </a:lnTo>
                  <a:lnTo>
                    <a:pt x="425276" y="212636"/>
                  </a:lnTo>
                  <a:lnTo>
                    <a:pt x="419618" y="164128"/>
                  </a:lnTo>
                  <a:lnTo>
                    <a:pt x="403525" y="119467"/>
                  </a:lnTo>
                  <a:lnTo>
                    <a:pt x="378314" y="79973"/>
                  </a:lnTo>
                  <a:lnTo>
                    <a:pt x="345302" y="46961"/>
                  </a:lnTo>
                  <a:lnTo>
                    <a:pt x="305807" y="21750"/>
                  </a:lnTo>
                  <a:lnTo>
                    <a:pt x="261146" y="5657"/>
                  </a:lnTo>
                  <a:lnTo>
                    <a:pt x="212638" y="0"/>
                  </a:lnTo>
                  <a:close/>
                </a:path>
              </a:pathLst>
            </a:custGeom>
            <a:solidFill>
              <a:srgbClr val="0067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6340" y="1507324"/>
              <a:ext cx="191319" cy="191312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4776660" y="1941131"/>
            <a:ext cx="3665220" cy="723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Analyze</a:t>
            </a:r>
            <a:r>
              <a:rPr dirty="0" sz="1350" spc="-40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4A4949"/>
                </a:solidFill>
                <a:latin typeface="Arial"/>
                <a:cs typeface="Arial"/>
              </a:rPr>
              <a:t>Revenue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Evaluate</a:t>
            </a:r>
            <a:r>
              <a:rPr dirty="0" sz="1100" spc="-3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revenue</a:t>
            </a:r>
            <a:r>
              <a:rPr dirty="0" sz="1100" spc="-3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by</a:t>
            </a:r>
            <a:r>
              <a:rPr dirty="0" sz="1100" spc="-3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payment</a:t>
            </a:r>
            <a:r>
              <a:rPr dirty="0" sz="1100" spc="-3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method,</a:t>
            </a:r>
            <a:r>
              <a:rPr dirty="0" sz="1100" spc="-3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customer,</a:t>
            </a:r>
            <a:r>
              <a:rPr dirty="0" sz="1100" spc="-3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and</a:t>
            </a:r>
            <a:r>
              <a:rPr dirty="0" sz="1100" spc="-3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daily trends.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93737" y="3003505"/>
            <a:ext cx="4010025" cy="1625600"/>
            <a:chOff x="493737" y="3003505"/>
            <a:chExt cx="4010025" cy="1625600"/>
          </a:xfrm>
        </p:grpSpPr>
        <p:sp>
          <p:nvSpPr>
            <p:cNvPr id="16" name="object 16" descr=""/>
            <p:cNvSpPr/>
            <p:nvPr/>
          </p:nvSpPr>
          <p:spPr>
            <a:xfrm>
              <a:off x="496119" y="3005886"/>
              <a:ext cx="4005579" cy="1620520"/>
            </a:xfrm>
            <a:custGeom>
              <a:avLst/>
              <a:gdLst/>
              <a:ahLst/>
              <a:cxnLst/>
              <a:rect l="l" t="t" r="r" b="b"/>
              <a:pathLst>
                <a:path w="4005579" h="1620520">
                  <a:moveTo>
                    <a:pt x="3877373" y="0"/>
                  </a:moveTo>
                  <a:lnTo>
                    <a:pt x="127591" y="0"/>
                  </a:lnTo>
                  <a:lnTo>
                    <a:pt x="78126" y="10092"/>
                  </a:lnTo>
                  <a:lnTo>
                    <a:pt x="37547" y="37547"/>
                  </a:lnTo>
                  <a:lnTo>
                    <a:pt x="10093" y="78127"/>
                  </a:lnTo>
                  <a:lnTo>
                    <a:pt x="0" y="127596"/>
                  </a:lnTo>
                  <a:lnTo>
                    <a:pt x="0" y="1492618"/>
                  </a:lnTo>
                  <a:lnTo>
                    <a:pt x="10093" y="1542087"/>
                  </a:lnTo>
                  <a:lnTo>
                    <a:pt x="37547" y="1582667"/>
                  </a:lnTo>
                  <a:lnTo>
                    <a:pt x="78126" y="1610122"/>
                  </a:lnTo>
                  <a:lnTo>
                    <a:pt x="127591" y="1620215"/>
                  </a:lnTo>
                  <a:lnTo>
                    <a:pt x="3877373" y="1620215"/>
                  </a:lnTo>
                  <a:lnTo>
                    <a:pt x="3926837" y="1610122"/>
                  </a:lnTo>
                  <a:lnTo>
                    <a:pt x="3967418" y="1582667"/>
                  </a:lnTo>
                  <a:lnTo>
                    <a:pt x="3994875" y="1542087"/>
                  </a:lnTo>
                  <a:lnTo>
                    <a:pt x="4004970" y="1492618"/>
                  </a:lnTo>
                  <a:lnTo>
                    <a:pt x="4004970" y="127596"/>
                  </a:lnTo>
                  <a:lnTo>
                    <a:pt x="3994875" y="78127"/>
                  </a:lnTo>
                  <a:lnTo>
                    <a:pt x="3967418" y="37547"/>
                  </a:lnTo>
                  <a:lnTo>
                    <a:pt x="3926837" y="10092"/>
                  </a:lnTo>
                  <a:lnTo>
                    <a:pt x="3877373" y="0"/>
                  </a:lnTo>
                  <a:close/>
                </a:path>
              </a:pathLst>
            </a:custGeom>
            <a:solidFill>
              <a:srgbClr val="D1EE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96119" y="3005886"/>
              <a:ext cx="4005579" cy="1620520"/>
            </a:xfrm>
            <a:custGeom>
              <a:avLst/>
              <a:gdLst/>
              <a:ahLst/>
              <a:cxnLst/>
              <a:rect l="l" t="t" r="r" b="b"/>
              <a:pathLst>
                <a:path w="4005579" h="1620520">
                  <a:moveTo>
                    <a:pt x="0" y="127596"/>
                  </a:moveTo>
                  <a:lnTo>
                    <a:pt x="10093" y="78127"/>
                  </a:lnTo>
                  <a:lnTo>
                    <a:pt x="37547" y="37547"/>
                  </a:lnTo>
                  <a:lnTo>
                    <a:pt x="78126" y="10092"/>
                  </a:lnTo>
                  <a:lnTo>
                    <a:pt x="127591" y="0"/>
                  </a:lnTo>
                  <a:lnTo>
                    <a:pt x="3877373" y="0"/>
                  </a:lnTo>
                  <a:lnTo>
                    <a:pt x="3926837" y="10092"/>
                  </a:lnTo>
                  <a:lnTo>
                    <a:pt x="3967418" y="37547"/>
                  </a:lnTo>
                  <a:lnTo>
                    <a:pt x="3994875" y="78127"/>
                  </a:lnTo>
                  <a:lnTo>
                    <a:pt x="4004970" y="127596"/>
                  </a:lnTo>
                  <a:lnTo>
                    <a:pt x="4004970" y="1492618"/>
                  </a:lnTo>
                  <a:lnTo>
                    <a:pt x="3994875" y="1542087"/>
                  </a:lnTo>
                  <a:lnTo>
                    <a:pt x="3967418" y="1582667"/>
                  </a:lnTo>
                  <a:lnTo>
                    <a:pt x="3926837" y="1610122"/>
                  </a:lnTo>
                  <a:lnTo>
                    <a:pt x="3877373" y="1620215"/>
                  </a:lnTo>
                  <a:lnTo>
                    <a:pt x="127591" y="1620215"/>
                  </a:lnTo>
                  <a:lnTo>
                    <a:pt x="78126" y="1610122"/>
                  </a:lnTo>
                  <a:lnTo>
                    <a:pt x="37547" y="1582667"/>
                  </a:lnTo>
                  <a:lnTo>
                    <a:pt x="10093" y="1542087"/>
                  </a:lnTo>
                  <a:lnTo>
                    <a:pt x="0" y="1492618"/>
                  </a:lnTo>
                  <a:lnTo>
                    <a:pt x="0" y="127596"/>
                  </a:lnTo>
                  <a:close/>
                </a:path>
              </a:pathLst>
            </a:custGeom>
            <a:ln w="4762">
              <a:solidFill>
                <a:srgbClr val="B7D4C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42640" y="3152406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638" y="0"/>
                  </a:moveTo>
                  <a:lnTo>
                    <a:pt x="164130" y="5657"/>
                  </a:lnTo>
                  <a:lnTo>
                    <a:pt x="119469" y="21750"/>
                  </a:lnTo>
                  <a:lnTo>
                    <a:pt x="79974" y="46961"/>
                  </a:lnTo>
                  <a:lnTo>
                    <a:pt x="46962" y="79973"/>
                  </a:lnTo>
                  <a:lnTo>
                    <a:pt x="21750" y="119467"/>
                  </a:lnTo>
                  <a:lnTo>
                    <a:pt x="5657" y="164128"/>
                  </a:lnTo>
                  <a:lnTo>
                    <a:pt x="0" y="212636"/>
                  </a:lnTo>
                  <a:lnTo>
                    <a:pt x="5657" y="261144"/>
                  </a:lnTo>
                  <a:lnTo>
                    <a:pt x="21750" y="305804"/>
                  </a:lnTo>
                  <a:lnTo>
                    <a:pt x="46962" y="345299"/>
                  </a:lnTo>
                  <a:lnTo>
                    <a:pt x="79974" y="378310"/>
                  </a:lnTo>
                  <a:lnTo>
                    <a:pt x="119469" y="403522"/>
                  </a:lnTo>
                  <a:lnTo>
                    <a:pt x="164130" y="419615"/>
                  </a:lnTo>
                  <a:lnTo>
                    <a:pt x="212638" y="425272"/>
                  </a:lnTo>
                  <a:lnTo>
                    <a:pt x="261146" y="419615"/>
                  </a:lnTo>
                  <a:lnTo>
                    <a:pt x="305807" y="403522"/>
                  </a:lnTo>
                  <a:lnTo>
                    <a:pt x="345302" y="378310"/>
                  </a:lnTo>
                  <a:lnTo>
                    <a:pt x="378314" y="345299"/>
                  </a:lnTo>
                  <a:lnTo>
                    <a:pt x="403525" y="305804"/>
                  </a:lnTo>
                  <a:lnTo>
                    <a:pt x="419618" y="261144"/>
                  </a:lnTo>
                  <a:lnTo>
                    <a:pt x="425276" y="212636"/>
                  </a:lnTo>
                  <a:lnTo>
                    <a:pt x="419618" y="164128"/>
                  </a:lnTo>
                  <a:lnTo>
                    <a:pt x="403525" y="119467"/>
                  </a:lnTo>
                  <a:lnTo>
                    <a:pt x="378314" y="79973"/>
                  </a:lnTo>
                  <a:lnTo>
                    <a:pt x="345302" y="46961"/>
                  </a:lnTo>
                  <a:lnTo>
                    <a:pt x="305807" y="21750"/>
                  </a:lnTo>
                  <a:lnTo>
                    <a:pt x="261146" y="5657"/>
                  </a:lnTo>
                  <a:lnTo>
                    <a:pt x="212638" y="0"/>
                  </a:lnTo>
                  <a:close/>
                </a:path>
              </a:pathLst>
            </a:custGeom>
            <a:solidFill>
              <a:srgbClr val="0067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9618" y="3269310"/>
              <a:ext cx="191319" cy="191312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629940" y="3703104"/>
            <a:ext cx="3239770" cy="723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Evaluate</a:t>
            </a:r>
            <a:r>
              <a:rPr dirty="0" sz="1350" spc="-30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4A4949"/>
                </a:solidFill>
                <a:latin typeface="Arial"/>
                <a:cs typeface="Arial"/>
              </a:rPr>
              <a:t>Cancellations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Measure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driver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and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customer</a:t>
            </a:r>
            <a:r>
              <a:rPr dirty="0" sz="1100" spc="-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cancellation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rates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and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reasons.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4640459" y="3003505"/>
            <a:ext cx="4010025" cy="1625600"/>
            <a:chOff x="4640459" y="3003505"/>
            <a:chExt cx="4010025" cy="1625600"/>
          </a:xfrm>
        </p:grpSpPr>
        <p:sp>
          <p:nvSpPr>
            <p:cNvPr id="22" name="object 22" descr=""/>
            <p:cNvSpPr/>
            <p:nvPr/>
          </p:nvSpPr>
          <p:spPr>
            <a:xfrm>
              <a:off x="4642840" y="3005886"/>
              <a:ext cx="4005579" cy="1620520"/>
            </a:xfrm>
            <a:custGeom>
              <a:avLst/>
              <a:gdLst/>
              <a:ahLst/>
              <a:cxnLst/>
              <a:rect l="l" t="t" r="r" b="b"/>
              <a:pathLst>
                <a:path w="4005579" h="1620520">
                  <a:moveTo>
                    <a:pt x="3877449" y="0"/>
                  </a:moveTo>
                  <a:lnTo>
                    <a:pt x="127591" y="0"/>
                  </a:lnTo>
                  <a:lnTo>
                    <a:pt x="78126" y="10092"/>
                  </a:lnTo>
                  <a:lnTo>
                    <a:pt x="37547" y="37547"/>
                  </a:lnTo>
                  <a:lnTo>
                    <a:pt x="10093" y="78127"/>
                  </a:lnTo>
                  <a:lnTo>
                    <a:pt x="0" y="127596"/>
                  </a:lnTo>
                  <a:lnTo>
                    <a:pt x="0" y="1492618"/>
                  </a:lnTo>
                  <a:lnTo>
                    <a:pt x="10093" y="1542087"/>
                  </a:lnTo>
                  <a:lnTo>
                    <a:pt x="37547" y="1582667"/>
                  </a:lnTo>
                  <a:lnTo>
                    <a:pt x="78126" y="1610122"/>
                  </a:lnTo>
                  <a:lnTo>
                    <a:pt x="127591" y="1620215"/>
                  </a:lnTo>
                  <a:lnTo>
                    <a:pt x="3877449" y="1620215"/>
                  </a:lnTo>
                  <a:lnTo>
                    <a:pt x="3926911" y="1610122"/>
                  </a:lnTo>
                  <a:lnTo>
                    <a:pt x="3967487" y="1582667"/>
                  </a:lnTo>
                  <a:lnTo>
                    <a:pt x="3994941" y="1542087"/>
                  </a:lnTo>
                  <a:lnTo>
                    <a:pt x="4005033" y="1492618"/>
                  </a:lnTo>
                  <a:lnTo>
                    <a:pt x="4005033" y="127596"/>
                  </a:lnTo>
                  <a:lnTo>
                    <a:pt x="3994941" y="78127"/>
                  </a:lnTo>
                  <a:lnTo>
                    <a:pt x="3967487" y="37547"/>
                  </a:lnTo>
                  <a:lnTo>
                    <a:pt x="3926911" y="10092"/>
                  </a:lnTo>
                  <a:lnTo>
                    <a:pt x="3877449" y="0"/>
                  </a:lnTo>
                  <a:close/>
                </a:path>
              </a:pathLst>
            </a:custGeom>
            <a:solidFill>
              <a:srgbClr val="D1EE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642840" y="3005886"/>
              <a:ext cx="4005579" cy="1620520"/>
            </a:xfrm>
            <a:custGeom>
              <a:avLst/>
              <a:gdLst/>
              <a:ahLst/>
              <a:cxnLst/>
              <a:rect l="l" t="t" r="r" b="b"/>
              <a:pathLst>
                <a:path w="4005579" h="1620520">
                  <a:moveTo>
                    <a:pt x="0" y="127596"/>
                  </a:moveTo>
                  <a:lnTo>
                    <a:pt x="10093" y="78127"/>
                  </a:lnTo>
                  <a:lnTo>
                    <a:pt x="37547" y="37547"/>
                  </a:lnTo>
                  <a:lnTo>
                    <a:pt x="78126" y="10092"/>
                  </a:lnTo>
                  <a:lnTo>
                    <a:pt x="127591" y="0"/>
                  </a:lnTo>
                  <a:lnTo>
                    <a:pt x="3877449" y="0"/>
                  </a:lnTo>
                  <a:lnTo>
                    <a:pt x="3926911" y="10092"/>
                  </a:lnTo>
                  <a:lnTo>
                    <a:pt x="3967487" y="37547"/>
                  </a:lnTo>
                  <a:lnTo>
                    <a:pt x="3994941" y="78127"/>
                  </a:lnTo>
                  <a:lnTo>
                    <a:pt x="4005033" y="127596"/>
                  </a:lnTo>
                  <a:lnTo>
                    <a:pt x="4005033" y="1492618"/>
                  </a:lnTo>
                  <a:lnTo>
                    <a:pt x="3994941" y="1542087"/>
                  </a:lnTo>
                  <a:lnTo>
                    <a:pt x="3967487" y="1582667"/>
                  </a:lnTo>
                  <a:lnTo>
                    <a:pt x="3926911" y="1610122"/>
                  </a:lnTo>
                  <a:lnTo>
                    <a:pt x="3877449" y="1620215"/>
                  </a:lnTo>
                  <a:lnTo>
                    <a:pt x="127591" y="1620215"/>
                  </a:lnTo>
                  <a:lnTo>
                    <a:pt x="78126" y="1610122"/>
                  </a:lnTo>
                  <a:lnTo>
                    <a:pt x="37547" y="1582667"/>
                  </a:lnTo>
                  <a:lnTo>
                    <a:pt x="10093" y="1542087"/>
                  </a:lnTo>
                  <a:lnTo>
                    <a:pt x="0" y="1492618"/>
                  </a:lnTo>
                  <a:lnTo>
                    <a:pt x="0" y="127596"/>
                  </a:lnTo>
                  <a:close/>
                </a:path>
              </a:pathLst>
            </a:custGeom>
            <a:ln w="4762">
              <a:solidFill>
                <a:srgbClr val="B7D4C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789360" y="3152406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638" y="0"/>
                  </a:moveTo>
                  <a:lnTo>
                    <a:pt x="164130" y="5657"/>
                  </a:lnTo>
                  <a:lnTo>
                    <a:pt x="119469" y="21750"/>
                  </a:lnTo>
                  <a:lnTo>
                    <a:pt x="79974" y="46961"/>
                  </a:lnTo>
                  <a:lnTo>
                    <a:pt x="46962" y="79973"/>
                  </a:lnTo>
                  <a:lnTo>
                    <a:pt x="21750" y="119467"/>
                  </a:lnTo>
                  <a:lnTo>
                    <a:pt x="5657" y="164128"/>
                  </a:lnTo>
                  <a:lnTo>
                    <a:pt x="0" y="212636"/>
                  </a:lnTo>
                  <a:lnTo>
                    <a:pt x="5657" y="261144"/>
                  </a:lnTo>
                  <a:lnTo>
                    <a:pt x="21750" y="305804"/>
                  </a:lnTo>
                  <a:lnTo>
                    <a:pt x="46962" y="345299"/>
                  </a:lnTo>
                  <a:lnTo>
                    <a:pt x="79974" y="378310"/>
                  </a:lnTo>
                  <a:lnTo>
                    <a:pt x="119469" y="403522"/>
                  </a:lnTo>
                  <a:lnTo>
                    <a:pt x="164130" y="419615"/>
                  </a:lnTo>
                  <a:lnTo>
                    <a:pt x="212638" y="425272"/>
                  </a:lnTo>
                  <a:lnTo>
                    <a:pt x="261146" y="419615"/>
                  </a:lnTo>
                  <a:lnTo>
                    <a:pt x="305807" y="403522"/>
                  </a:lnTo>
                  <a:lnTo>
                    <a:pt x="345302" y="378310"/>
                  </a:lnTo>
                  <a:lnTo>
                    <a:pt x="378314" y="345299"/>
                  </a:lnTo>
                  <a:lnTo>
                    <a:pt x="403525" y="305804"/>
                  </a:lnTo>
                  <a:lnTo>
                    <a:pt x="419618" y="261144"/>
                  </a:lnTo>
                  <a:lnTo>
                    <a:pt x="425276" y="212636"/>
                  </a:lnTo>
                  <a:lnTo>
                    <a:pt x="419618" y="164128"/>
                  </a:lnTo>
                  <a:lnTo>
                    <a:pt x="403525" y="119467"/>
                  </a:lnTo>
                  <a:lnTo>
                    <a:pt x="378314" y="79973"/>
                  </a:lnTo>
                  <a:lnTo>
                    <a:pt x="345302" y="46961"/>
                  </a:lnTo>
                  <a:lnTo>
                    <a:pt x="305807" y="21750"/>
                  </a:lnTo>
                  <a:lnTo>
                    <a:pt x="261146" y="5657"/>
                  </a:lnTo>
                  <a:lnTo>
                    <a:pt x="212638" y="0"/>
                  </a:lnTo>
                  <a:close/>
                </a:path>
              </a:pathLst>
            </a:custGeom>
            <a:solidFill>
              <a:srgbClr val="0067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06340" y="3269310"/>
              <a:ext cx="191319" cy="191312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4776660" y="3703104"/>
            <a:ext cx="3177540" cy="723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Understand</a:t>
            </a:r>
            <a:r>
              <a:rPr dirty="0" sz="1350" spc="-65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4A4949"/>
                </a:solidFill>
                <a:latin typeface="Arial"/>
                <a:cs typeface="Arial"/>
              </a:rPr>
              <a:t>Ratings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Analyze</a:t>
            </a:r>
            <a:r>
              <a:rPr dirty="0" sz="11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customer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and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driver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ratings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across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vehicle categories.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/>
              <a:t>Dataset</a:t>
            </a:r>
            <a:r>
              <a:rPr dirty="0" sz="2650" spc="-100"/>
              <a:t> </a:t>
            </a:r>
            <a:r>
              <a:rPr dirty="0" sz="2650" spc="-10"/>
              <a:t>Overview</a:t>
            </a:r>
            <a:endParaRPr sz="26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119" y="1410893"/>
            <a:ext cx="5183238" cy="293711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64453" y="1510868"/>
            <a:ext cx="202628" cy="20262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001067" y="1132015"/>
            <a:ext cx="2028189" cy="542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06746"/>
                </a:solidFill>
                <a:latin typeface="Arial"/>
                <a:cs typeface="Arial"/>
              </a:rPr>
              <a:t>Fields</a:t>
            </a:r>
            <a:r>
              <a:rPr dirty="0" sz="1300" spc="-45" b="1">
                <a:solidFill>
                  <a:srgbClr val="006746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006746"/>
                </a:solidFill>
                <a:latin typeface="Arial"/>
                <a:cs typeface="Arial"/>
              </a:rPr>
              <a:t>Included</a:t>
            </a:r>
            <a:endParaRPr sz="130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1245"/>
              </a:spcBef>
            </a:pPr>
            <a:r>
              <a:rPr dirty="0" sz="1050">
                <a:solidFill>
                  <a:srgbClr val="4A4949"/>
                </a:solidFill>
                <a:latin typeface="Arial"/>
                <a:cs typeface="Arial"/>
              </a:rPr>
              <a:t>Booking</a:t>
            </a:r>
            <a:r>
              <a:rPr dirty="0" sz="1050" spc="-3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A4949"/>
                </a:solidFill>
                <a:latin typeface="Arial"/>
                <a:cs typeface="Arial"/>
              </a:rPr>
              <a:t>ID</a:t>
            </a:r>
            <a:r>
              <a:rPr dirty="0" sz="105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A4949"/>
                </a:solidFill>
                <a:latin typeface="Arial"/>
                <a:cs typeface="Arial"/>
              </a:rPr>
              <a:t>&amp;</a:t>
            </a:r>
            <a:r>
              <a:rPr dirty="0" sz="1050" spc="-3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A4949"/>
                </a:solidFill>
                <a:latin typeface="Arial"/>
                <a:cs typeface="Arial"/>
              </a:rPr>
              <a:t>Customer</a:t>
            </a:r>
            <a:r>
              <a:rPr dirty="0" sz="1050" spc="-25">
                <a:solidFill>
                  <a:srgbClr val="4A4949"/>
                </a:solidFill>
                <a:latin typeface="Arial"/>
                <a:cs typeface="Arial"/>
              </a:rPr>
              <a:t> ID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64453" y="2180437"/>
            <a:ext cx="202628" cy="20262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440119" y="2158263"/>
            <a:ext cx="185610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4A4949"/>
                </a:solidFill>
                <a:latin typeface="Arial"/>
                <a:cs typeface="Arial"/>
              </a:rPr>
              <a:t>Vehicle</a:t>
            </a:r>
            <a:r>
              <a:rPr dirty="0" sz="1050" spc="-4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A4949"/>
                </a:solidFill>
                <a:latin typeface="Arial"/>
                <a:cs typeface="Arial"/>
              </a:rPr>
              <a:t>Type</a:t>
            </a:r>
            <a:r>
              <a:rPr dirty="0" sz="1050" spc="-3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A4949"/>
                </a:solidFill>
                <a:latin typeface="Arial"/>
                <a:cs typeface="Arial"/>
              </a:rPr>
              <a:t>&amp;</a:t>
            </a:r>
            <a:r>
              <a:rPr dirty="0" sz="1050" spc="-4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A4949"/>
                </a:solidFill>
                <a:latin typeface="Arial"/>
                <a:cs typeface="Arial"/>
              </a:rPr>
              <a:t>Booking</a:t>
            </a:r>
            <a:r>
              <a:rPr dirty="0" sz="1050" spc="-3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A4949"/>
                </a:solidFill>
                <a:latin typeface="Arial"/>
                <a:cs typeface="Arial"/>
              </a:rPr>
              <a:t>Status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64453" y="2850019"/>
            <a:ext cx="202628" cy="202628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6440119" y="2827845"/>
            <a:ext cx="20561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4A4949"/>
                </a:solidFill>
                <a:latin typeface="Arial"/>
                <a:cs typeface="Arial"/>
              </a:rPr>
              <a:t>Payment</a:t>
            </a:r>
            <a:r>
              <a:rPr dirty="0" sz="1050" spc="-4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A4949"/>
                </a:solidFill>
                <a:latin typeface="Arial"/>
                <a:cs typeface="Arial"/>
              </a:rPr>
              <a:t>Method</a:t>
            </a:r>
            <a:r>
              <a:rPr dirty="0" sz="1050" spc="-4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A4949"/>
                </a:solidFill>
                <a:latin typeface="Arial"/>
                <a:cs typeface="Arial"/>
              </a:rPr>
              <a:t>&amp;</a:t>
            </a:r>
            <a:r>
              <a:rPr dirty="0" sz="1050" spc="-4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A4949"/>
                </a:solidFill>
                <a:latin typeface="Arial"/>
                <a:cs typeface="Arial"/>
              </a:rPr>
              <a:t>Booking</a:t>
            </a:r>
            <a:r>
              <a:rPr dirty="0" sz="1050" spc="-4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A4949"/>
                </a:solidFill>
                <a:latin typeface="Arial"/>
                <a:cs typeface="Arial"/>
              </a:rPr>
              <a:t>Value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64453" y="3519601"/>
            <a:ext cx="202628" cy="202628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6440119" y="3497414"/>
            <a:ext cx="147066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4A4949"/>
                </a:solidFill>
                <a:latin typeface="Arial"/>
                <a:cs typeface="Arial"/>
              </a:rPr>
              <a:t>Ride</a:t>
            </a:r>
            <a:r>
              <a:rPr dirty="0" sz="105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A4949"/>
                </a:solidFill>
                <a:latin typeface="Arial"/>
                <a:cs typeface="Arial"/>
              </a:rPr>
              <a:t>Distance </a:t>
            </a:r>
            <a:r>
              <a:rPr dirty="0" sz="1050">
                <a:solidFill>
                  <a:srgbClr val="4A4949"/>
                </a:solidFill>
                <a:latin typeface="Arial"/>
                <a:cs typeface="Arial"/>
              </a:rPr>
              <a:t>&amp;</a:t>
            </a:r>
            <a:r>
              <a:rPr dirty="0" sz="1050" spc="-10">
                <a:solidFill>
                  <a:srgbClr val="4A4949"/>
                </a:solidFill>
                <a:latin typeface="Arial"/>
                <a:cs typeface="Arial"/>
              </a:rPr>
              <a:t> Ratings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64453" y="4189171"/>
            <a:ext cx="202628" cy="202628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6440119" y="4166996"/>
            <a:ext cx="132270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4A4949"/>
                </a:solidFill>
                <a:latin typeface="Arial"/>
                <a:cs typeface="Arial"/>
              </a:rPr>
              <a:t>Cancellation</a:t>
            </a:r>
            <a:r>
              <a:rPr dirty="0" sz="1050" spc="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A4949"/>
                </a:solidFill>
                <a:latin typeface="Arial"/>
                <a:cs typeface="Arial"/>
              </a:rPr>
              <a:t>Reasons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441065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Overall</a:t>
            </a:r>
            <a:r>
              <a:rPr dirty="0" sz="2700" spc="-20"/>
              <a:t> </a:t>
            </a:r>
            <a:r>
              <a:rPr dirty="0" sz="2700" spc="-10"/>
              <a:t>Dashboard</a:t>
            </a:r>
            <a:endParaRPr sz="2700"/>
          </a:p>
        </p:txBody>
      </p:sp>
      <p:grpSp>
        <p:nvGrpSpPr>
          <p:cNvPr id="5" name="object 5" descr=""/>
          <p:cNvGrpSpPr/>
          <p:nvPr/>
        </p:nvGrpSpPr>
        <p:grpSpPr>
          <a:xfrm>
            <a:off x="3915587" y="1030412"/>
            <a:ext cx="4742180" cy="842644"/>
            <a:chOff x="3915587" y="1030412"/>
            <a:chExt cx="4742180" cy="842644"/>
          </a:xfrm>
        </p:grpSpPr>
        <p:sp>
          <p:nvSpPr>
            <p:cNvPr id="6" name="object 6" descr=""/>
            <p:cNvSpPr/>
            <p:nvPr/>
          </p:nvSpPr>
          <p:spPr>
            <a:xfrm>
              <a:off x="3925112" y="1039936"/>
              <a:ext cx="4723130" cy="823594"/>
            </a:xfrm>
            <a:custGeom>
              <a:avLst/>
              <a:gdLst/>
              <a:ahLst/>
              <a:cxnLst/>
              <a:rect l="l" t="t" r="r" b="b"/>
              <a:pathLst>
                <a:path w="4723130" h="823594">
                  <a:moveTo>
                    <a:pt x="4599152" y="0"/>
                  </a:moveTo>
                  <a:lnTo>
                    <a:pt x="123604" y="0"/>
                  </a:lnTo>
                  <a:lnTo>
                    <a:pt x="75684" y="9777"/>
                  </a:lnTo>
                  <a:lnTo>
                    <a:pt x="36374" y="36372"/>
                  </a:lnTo>
                  <a:lnTo>
                    <a:pt x="9777" y="75684"/>
                  </a:lnTo>
                  <a:lnTo>
                    <a:pt x="0" y="123609"/>
                  </a:lnTo>
                  <a:lnTo>
                    <a:pt x="0" y="699706"/>
                  </a:lnTo>
                  <a:lnTo>
                    <a:pt x="9777" y="747631"/>
                  </a:lnTo>
                  <a:lnTo>
                    <a:pt x="36374" y="786942"/>
                  </a:lnTo>
                  <a:lnTo>
                    <a:pt x="75684" y="813538"/>
                  </a:lnTo>
                  <a:lnTo>
                    <a:pt x="123604" y="823315"/>
                  </a:lnTo>
                  <a:lnTo>
                    <a:pt x="4599152" y="823315"/>
                  </a:lnTo>
                  <a:lnTo>
                    <a:pt x="4647077" y="813538"/>
                  </a:lnTo>
                  <a:lnTo>
                    <a:pt x="4686388" y="786942"/>
                  </a:lnTo>
                  <a:lnTo>
                    <a:pt x="4712984" y="747631"/>
                  </a:lnTo>
                  <a:lnTo>
                    <a:pt x="4722761" y="699706"/>
                  </a:lnTo>
                  <a:lnTo>
                    <a:pt x="4722761" y="123609"/>
                  </a:lnTo>
                  <a:lnTo>
                    <a:pt x="4712984" y="75684"/>
                  </a:lnTo>
                  <a:lnTo>
                    <a:pt x="4686388" y="36372"/>
                  </a:lnTo>
                  <a:lnTo>
                    <a:pt x="4647077" y="9777"/>
                  </a:lnTo>
                  <a:lnTo>
                    <a:pt x="4599152" y="0"/>
                  </a:lnTo>
                  <a:close/>
                </a:path>
              </a:pathLst>
            </a:custGeom>
            <a:solidFill>
              <a:srgbClr val="E4F8F1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925112" y="1039936"/>
              <a:ext cx="4723130" cy="823594"/>
            </a:xfrm>
            <a:custGeom>
              <a:avLst/>
              <a:gdLst/>
              <a:ahLst/>
              <a:cxnLst/>
              <a:rect l="l" t="t" r="r" b="b"/>
              <a:pathLst>
                <a:path w="4723130" h="823594">
                  <a:moveTo>
                    <a:pt x="0" y="123609"/>
                  </a:moveTo>
                  <a:lnTo>
                    <a:pt x="9777" y="75684"/>
                  </a:lnTo>
                  <a:lnTo>
                    <a:pt x="36374" y="36372"/>
                  </a:lnTo>
                  <a:lnTo>
                    <a:pt x="75684" y="9777"/>
                  </a:lnTo>
                  <a:lnTo>
                    <a:pt x="123604" y="0"/>
                  </a:lnTo>
                  <a:lnTo>
                    <a:pt x="4599152" y="0"/>
                  </a:lnTo>
                  <a:lnTo>
                    <a:pt x="4647077" y="9777"/>
                  </a:lnTo>
                  <a:lnTo>
                    <a:pt x="4686388" y="36372"/>
                  </a:lnTo>
                  <a:lnTo>
                    <a:pt x="4712984" y="75684"/>
                  </a:lnTo>
                  <a:lnTo>
                    <a:pt x="4722761" y="123609"/>
                  </a:lnTo>
                  <a:lnTo>
                    <a:pt x="4722761" y="699706"/>
                  </a:lnTo>
                  <a:lnTo>
                    <a:pt x="4712984" y="747631"/>
                  </a:lnTo>
                  <a:lnTo>
                    <a:pt x="4686388" y="786942"/>
                  </a:lnTo>
                  <a:lnTo>
                    <a:pt x="4647077" y="813538"/>
                  </a:lnTo>
                  <a:lnTo>
                    <a:pt x="4599152" y="823315"/>
                  </a:lnTo>
                  <a:lnTo>
                    <a:pt x="123604" y="823315"/>
                  </a:lnTo>
                  <a:lnTo>
                    <a:pt x="75684" y="813538"/>
                  </a:lnTo>
                  <a:lnTo>
                    <a:pt x="36374" y="786942"/>
                  </a:lnTo>
                  <a:lnTo>
                    <a:pt x="9777" y="747631"/>
                  </a:lnTo>
                  <a:lnTo>
                    <a:pt x="0" y="699706"/>
                  </a:lnTo>
                  <a:lnTo>
                    <a:pt x="0" y="123609"/>
                  </a:lnTo>
                  <a:close/>
                </a:path>
              </a:pathLst>
            </a:custGeom>
            <a:ln w="19049">
              <a:solidFill>
                <a:srgbClr val="B7D4C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3915587" y="1986711"/>
            <a:ext cx="4742180" cy="842644"/>
            <a:chOff x="3915587" y="1986711"/>
            <a:chExt cx="4742180" cy="842644"/>
          </a:xfrm>
        </p:grpSpPr>
        <p:sp>
          <p:nvSpPr>
            <p:cNvPr id="9" name="object 9" descr=""/>
            <p:cNvSpPr/>
            <p:nvPr/>
          </p:nvSpPr>
          <p:spPr>
            <a:xfrm>
              <a:off x="3925112" y="1996236"/>
              <a:ext cx="4723130" cy="823594"/>
            </a:xfrm>
            <a:custGeom>
              <a:avLst/>
              <a:gdLst/>
              <a:ahLst/>
              <a:cxnLst/>
              <a:rect l="l" t="t" r="r" b="b"/>
              <a:pathLst>
                <a:path w="4723130" h="823594">
                  <a:moveTo>
                    <a:pt x="4599152" y="0"/>
                  </a:moveTo>
                  <a:lnTo>
                    <a:pt x="123604" y="0"/>
                  </a:lnTo>
                  <a:lnTo>
                    <a:pt x="75684" y="9777"/>
                  </a:lnTo>
                  <a:lnTo>
                    <a:pt x="36374" y="36372"/>
                  </a:lnTo>
                  <a:lnTo>
                    <a:pt x="9777" y="75684"/>
                  </a:lnTo>
                  <a:lnTo>
                    <a:pt x="0" y="123609"/>
                  </a:lnTo>
                  <a:lnTo>
                    <a:pt x="0" y="699706"/>
                  </a:lnTo>
                  <a:lnTo>
                    <a:pt x="9777" y="747631"/>
                  </a:lnTo>
                  <a:lnTo>
                    <a:pt x="36374" y="786942"/>
                  </a:lnTo>
                  <a:lnTo>
                    <a:pt x="75684" y="813538"/>
                  </a:lnTo>
                  <a:lnTo>
                    <a:pt x="123604" y="823315"/>
                  </a:lnTo>
                  <a:lnTo>
                    <a:pt x="4599152" y="823315"/>
                  </a:lnTo>
                  <a:lnTo>
                    <a:pt x="4647077" y="813538"/>
                  </a:lnTo>
                  <a:lnTo>
                    <a:pt x="4686388" y="786942"/>
                  </a:lnTo>
                  <a:lnTo>
                    <a:pt x="4712984" y="747631"/>
                  </a:lnTo>
                  <a:lnTo>
                    <a:pt x="4722761" y="699706"/>
                  </a:lnTo>
                  <a:lnTo>
                    <a:pt x="4722761" y="123609"/>
                  </a:lnTo>
                  <a:lnTo>
                    <a:pt x="4712984" y="75684"/>
                  </a:lnTo>
                  <a:lnTo>
                    <a:pt x="4686388" y="36372"/>
                  </a:lnTo>
                  <a:lnTo>
                    <a:pt x="4647077" y="9777"/>
                  </a:lnTo>
                  <a:lnTo>
                    <a:pt x="4599152" y="0"/>
                  </a:lnTo>
                  <a:close/>
                </a:path>
              </a:pathLst>
            </a:custGeom>
            <a:solidFill>
              <a:srgbClr val="E4F8F1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925112" y="1996236"/>
              <a:ext cx="4723130" cy="823594"/>
            </a:xfrm>
            <a:custGeom>
              <a:avLst/>
              <a:gdLst/>
              <a:ahLst/>
              <a:cxnLst/>
              <a:rect l="l" t="t" r="r" b="b"/>
              <a:pathLst>
                <a:path w="4723130" h="823594">
                  <a:moveTo>
                    <a:pt x="0" y="123609"/>
                  </a:moveTo>
                  <a:lnTo>
                    <a:pt x="9777" y="75684"/>
                  </a:lnTo>
                  <a:lnTo>
                    <a:pt x="36374" y="36372"/>
                  </a:lnTo>
                  <a:lnTo>
                    <a:pt x="75684" y="9777"/>
                  </a:lnTo>
                  <a:lnTo>
                    <a:pt x="123604" y="0"/>
                  </a:lnTo>
                  <a:lnTo>
                    <a:pt x="4599152" y="0"/>
                  </a:lnTo>
                  <a:lnTo>
                    <a:pt x="4647077" y="9777"/>
                  </a:lnTo>
                  <a:lnTo>
                    <a:pt x="4686388" y="36372"/>
                  </a:lnTo>
                  <a:lnTo>
                    <a:pt x="4712984" y="75684"/>
                  </a:lnTo>
                  <a:lnTo>
                    <a:pt x="4722761" y="123609"/>
                  </a:lnTo>
                  <a:lnTo>
                    <a:pt x="4722761" y="699706"/>
                  </a:lnTo>
                  <a:lnTo>
                    <a:pt x="4712984" y="747631"/>
                  </a:lnTo>
                  <a:lnTo>
                    <a:pt x="4686388" y="786942"/>
                  </a:lnTo>
                  <a:lnTo>
                    <a:pt x="4647077" y="813538"/>
                  </a:lnTo>
                  <a:lnTo>
                    <a:pt x="4599152" y="823315"/>
                  </a:lnTo>
                  <a:lnTo>
                    <a:pt x="123604" y="823315"/>
                  </a:lnTo>
                  <a:lnTo>
                    <a:pt x="75684" y="813538"/>
                  </a:lnTo>
                  <a:lnTo>
                    <a:pt x="36374" y="786942"/>
                  </a:lnTo>
                  <a:lnTo>
                    <a:pt x="9777" y="747631"/>
                  </a:lnTo>
                  <a:lnTo>
                    <a:pt x="0" y="699706"/>
                  </a:lnTo>
                  <a:lnTo>
                    <a:pt x="0" y="123609"/>
                  </a:lnTo>
                  <a:close/>
                </a:path>
              </a:pathLst>
            </a:custGeom>
            <a:ln w="19049">
              <a:solidFill>
                <a:srgbClr val="B7D4C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3915587" y="2942996"/>
            <a:ext cx="4742180" cy="842644"/>
            <a:chOff x="3915587" y="2942996"/>
            <a:chExt cx="4742180" cy="842644"/>
          </a:xfrm>
        </p:grpSpPr>
        <p:sp>
          <p:nvSpPr>
            <p:cNvPr id="12" name="object 12" descr=""/>
            <p:cNvSpPr/>
            <p:nvPr/>
          </p:nvSpPr>
          <p:spPr>
            <a:xfrm>
              <a:off x="3925112" y="2952521"/>
              <a:ext cx="4723130" cy="823594"/>
            </a:xfrm>
            <a:custGeom>
              <a:avLst/>
              <a:gdLst/>
              <a:ahLst/>
              <a:cxnLst/>
              <a:rect l="l" t="t" r="r" b="b"/>
              <a:pathLst>
                <a:path w="4723130" h="823595">
                  <a:moveTo>
                    <a:pt x="4599152" y="0"/>
                  </a:moveTo>
                  <a:lnTo>
                    <a:pt x="123604" y="0"/>
                  </a:lnTo>
                  <a:lnTo>
                    <a:pt x="75684" y="9777"/>
                  </a:lnTo>
                  <a:lnTo>
                    <a:pt x="36374" y="36372"/>
                  </a:lnTo>
                  <a:lnTo>
                    <a:pt x="9777" y="75684"/>
                  </a:lnTo>
                  <a:lnTo>
                    <a:pt x="0" y="123609"/>
                  </a:lnTo>
                  <a:lnTo>
                    <a:pt x="0" y="699706"/>
                  </a:lnTo>
                  <a:lnTo>
                    <a:pt x="9777" y="747631"/>
                  </a:lnTo>
                  <a:lnTo>
                    <a:pt x="36374" y="786942"/>
                  </a:lnTo>
                  <a:lnTo>
                    <a:pt x="75684" y="813538"/>
                  </a:lnTo>
                  <a:lnTo>
                    <a:pt x="123604" y="823315"/>
                  </a:lnTo>
                  <a:lnTo>
                    <a:pt x="4599152" y="823315"/>
                  </a:lnTo>
                  <a:lnTo>
                    <a:pt x="4647077" y="813538"/>
                  </a:lnTo>
                  <a:lnTo>
                    <a:pt x="4686388" y="786942"/>
                  </a:lnTo>
                  <a:lnTo>
                    <a:pt x="4712984" y="747631"/>
                  </a:lnTo>
                  <a:lnTo>
                    <a:pt x="4722761" y="699706"/>
                  </a:lnTo>
                  <a:lnTo>
                    <a:pt x="4722761" y="123609"/>
                  </a:lnTo>
                  <a:lnTo>
                    <a:pt x="4712984" y="75684"/>
                  </a:lnTo>
                  <a:lnTo>
                    <a:pt x="4686388" y="36372"/>
                  </a:lnTo>
                  <a:lnTo>
                    <a:pt x="4647077" y="9777"/>
                  </a:lnTo>
                  <a:lnTo>
                    <a:pt x="4599152" y="0"/>
                  </a:lnTo>
                  <a:close/>
                </a:path>
              </a:pathLst>
            </a:custGeom>
            <a:solidFill>
              <a:srgbClr val="E4F8F1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925112" y="2952521"/>
              <a:ext cx="4723130" cy="823594"/>
            </a:xfrm>
            <a:custGeom>
              <a:avLst/>
              <a:gdLst/>
              <a:ahLst/>
              <a:cxnLst/>
              <a:rect l="l" t="t" r="r" b="b"/>
              <a:pathLst>
                <a:path w="4723130" h="823595">
                  <a:moveTo>
                    <a:pt x="0" y="123609"/>
                  </a:moveTo>
                  <a:lnTo>
                    <a:pt x="9777" y="75684"/>
                  </a:lnTo>
                  <a:lnTo>
                    <a:pt x="36374" y="36372"/>
                  </a:lnTo>
                  <a:lnTo>
                    <a:pt x="75684" y="9777"/>
                  </a:lnTo>
                  <a:lnTo>
                    <a:pt x="123604" y="0"/>
                  </a:lnTo>
                  <a:lnTo>
                    <a:pt x="4599152" y="0"/>
                  </a:lnTo>
                  <a:lnTo>
                    <a:pt x="4647077" y="9777"/>
                  </a:lnTo>
                  <a:lnTo>
                    <a:pt x="4686388" y="36372"/>
                  </a:lnTo>
                  <a:lnTo>
                    <a:pt x="4712984" y="75684"/>
                  </a:lnTo>
                  <a:lnTo>
                    <a:pt x="4722761" y="123609"/>
                  </a:lnTo>
                  <a:lnTo>
                    <a:pt x="4722761" y="699706"/>
                  </a:lnTo>
                  <a:lnTo>
                    <a:pt x="4712984" y="747631"/>
                  </a:lnTo>
                  <a:lnTo>
                    <a:pt x="4686388" y="786942"/>
                  </a:lnTo>
                  <a:lnTo>
                    <a:pt x="4647077" y="813538"/>
                  </a:lnTo>
                  <a:lnTo>
                    <a:pt x="4599152" y="823315"/>
                  </a:lnTo>
                  <a:lnTo>
                    <a:pt x="123604" y="823315"/>
                  </a:lnTo>
                  <a:lnTo>
                    <a:pt x="75684" y="813538"/>
                  </a:lnTo>
                  <a:lnTo>
                    <a:pt x="36374" y="786942"/>
                  </a:lnTo>
                  <a:lnTo>
                    <a:pt x="9777" y="747631"/>
                  </a:lnTo>
                  <a:lnTo>
                    <a:pt x="0" y="699706"/>
                  </a:lnTo>
                  <a:lnTo>
                    <a:pt x="0" y="123609"/>
                  </a:lnTo>
                  <a:close/>
                </a:path>
              </a:pathLst>
            </a:custGeom>
            <a:ln w="19049">
              <a:solidFill>
                <a:srgbClr val="B7D4C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3915587" y="3899293"/>
            <a:ext cx="4742180" cy="842644"/>
            <a:chOff x="3915587" y="3899293"/>
            <a:chExt cx="4742180" cy="842644"/>
          </a:xfrm>
        </p:grpSpPr>
        <p:sp>
          <p:nvSpPr>
            <p:cNvPr id="15" name="object 15" descr=""/>
            <p:cNvSpPr/>
            <p:nvPr/>
          </p:nvSpPr>
          <p:spPr>
            <a:xfrm>
              <a:off x="3925112" y="3908818"/>
              <a:ext cx="4723130" cy="823594"/>
            </a:xfrm>
            <a:custGeom>
              <a:avLst/>
              <a:gdLst/>
              <a:ahLst/>
              <a:cxnLst/>
              <a:rect l="l" t="t" r="r" b="b"/>
              <a:pathLst>
                <a:path w="4723130" h="823595">
                  <a:moveTo>
                    <a:pt x="4599152" y="0"/>
                  </a:moveTo>
                  <a:lnTo>
                    <a:pt x="123604" y="0"/>
                  </a:lnTo>
                  <a:lnTo>
                    <a:pt x="75684" y="9777"/>
                  </a:lnTo>
                  <a:lnTo>
                    <a:pt x="36374" y="36372"/>
                  </a:lnTo>
                  <a:lnTo>
                    <a:pt x="9777" y="75684"/>
                  </a:lnTo>
                  <a:lnTo>
                    <a:pt x="0" y="123609"/>
                  </a:lnTo>
                  <a:lnTo>
                    <a:pt x="0" y="699706"/>
                  </a:lnTo>
                  <a:lnTo>
                    <a:pt x="9777" y="747631"/>
                  </a:lnTo>
                  <a:lnTo>
                    <a:pt x="36374" y="786942"/>
                  </a:lnTo>
                  <a:lnTo>
                    <a:pt x="75684" y="813538"/>
                  </a:lnTo>
                  <a:lnTo>
                    <a:pt x="123604" y="823315"/>
                  </a:lnTo>
                  <a:lnTo>
                    <a:pt x="4599152" y="823315"/>
                  </a:lnTo>
                  <a:lnTo>
                    <a:pt x="4647077" y="813538"/>
                  </a:lnTo>
                  <a:lnTo>
                    <a:pt x="4686388" y="786942"/>
                  </a:lnTo>
                  <a:lnTo>
                    <a:pt x="4712984" y="747631"/>
                  </a:lnTo>
                  <a:lnTo>
                    <a:pt x="4722761" y="699706"/>
                  </a:lnTo>
                  <a:lnTo>
                    <a:pt x="4722761" y="123609"/>
                  </a:lnTo>
                  <a:lnTo>
                    <a:pt x="4712984" y="75684"/>
                  </a:lnTo>
                  <a:lnTo>
                    <a:pt x="4686388" y="36372"/>
                  </a:lnTo>
                  <a:lnTo>
                    <a:pt x="4647077" y="9777"/>
                  </a:lnTo>
                  <a:lnTo>
                    <a:pt x="4599152" y="0"/>
                  </a:lnTo>
                  <a:close/>
                </a:path>
              </a:pathLst>
            </a:custGeom>
            <a:solidFill>
              <a:srgbClr val="E4F8F1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925112" y="3908818"/>
              <a:ext cx="4723130" cy="823594"/>
            </a:xfrm>
            <a:custGeom>
              <a:avLst/>
              <a:gdLst/>
              <a:ahLst/>
              <a:cxnLst/>
              <a:rect l="l" t="t" r="r" b="b"/>
              <a:pathLst>
                <a:path w="4723130" h="823595">
                  <a:moveTo>
                    <a:pt x="0" y="123609"/>
                  </a:moveTo>
                  <a:lnTo>
                    <a:pt x="9777" y="75684"/>
                  </a:lnTo>
                  <a:lnTo>
                    <a:pt x="36374" y="36372"/>
                  </a:lnTo>
                  <a:lnTo>
                    <a:pt x="75684" y="9777"/>
                  </a:lnTo>
                  <a:lnTo>
                    <a:pt x="123604" y="0"/>
                  </a:lnTo>
                  <a:lnTo>
                    <a:pt x="4599152" y="0"/>
                  </a:lnTo>
                  <a:lnTo>
                    <a:pt x="4647077" y="9777"/>
                  </a:lnTo>
                  <a:lnTo>
                    <a:pt x="4686388" y="36372"/>
                  </a:lnTo>
                  <a:lnTo>
                    <a:pt x="4712984" y="75684"/>
                  </a:lnTo>
                  <a:lnTo>
                    <a:pt x="4722761" y="123609"/>
                  </a:lnTo>
                  <a:lnTo>
                    <a:pt x="4722761" y="699706"/>
                  </a:lnTo>
                  <a:lnTo>
                    <a:pt x="4712984" y="747631"/>
                  </a:lnTo>
                  <a:lnTo>
                    <a:pt x="4686388" y="786942"/>
                  </a:lnTo>
                  <a:lnTo>
                    <a:pt x="4647077" y="813538"/>
                  </a:lnTo>
                  <a:lnTo>
                    <a:pt x="4599152" y="823315"/>
                  </a:lnTo>
                  <a:lnTo>
                    <a:pt x="123604" y="823315"/>
                  </a:lnTo>
                  <a:lnTo>
                    <a:pt x="75684" y="813538"/>
                  </a:lnTo>
                  <a:lnTo>
                    <a:pt x="36374" y="786942"/>
                  </a:lnTo>
                  <a:lnTo>
                    <a:pt x="9777" y="747631"/>
                  </a:lnTo>
                  <a:lnTo>
                    <a:pt x="0" y="699706"/>
                  </a:lnTo>
                  <a:lnTo>
                    <a:pt x="0" y="123609"/>
                  </a:lnTo>
                  <a:close/>
                </a:path>
              </a:pathLst>
            </a:custGeom>
            <a:ln w="19049">
              <a:solidFill>
                <a:srgbClr val="B7D4C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/>
              <a:t>Total</a:t>
            </a:r>
            <a:r>
              <a:rPr dirty="0" spc="-30"/>
              <a:t> </a:t>
            </a:r>
            <a:r>
              <a:rPr dirty="0" spc="-10"/>
              <a:t>Bookings</a:t>
            </a: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050" spc="-10" b="0">
                <a:latin typeface="Arial"/>
                <a:cs typeface="Arial"/>
              </a:rPr>
              <a:t>Aggregate</a:t>
            </a:r>
            <a:r>
              <a:rPr dirty="0" sz="1050" spc="-25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count</a:t>
            </a:r>
            <a:r>
              <a:rPr dirty="0" sz="1050" spc="-25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of</a:t>
            </a:r>
            <a:r>
              <a:rPr dirty="0" sz="1050" spc="-25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all</a:t>
            </a:r>
            <a:r>
              <a:rPr dirty="0" sz="1050" spc="-25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ride</a:t>
            </a:r>
            <a:r>
              <a:rPr dirty="0" sz="1050" spc="-25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bookings</a:t>
            </a:r>
            <a:r>
              <a:rPr dirty="0" sz="1050" spc="-25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across</a:t>
            </a:r>
            <a:r>
              <a:rPr dirty="0" sz="1050" spc="-25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the</a:t>
            </a:r>
            <a:r>
              <a:rPr dirty="0" sz="1050" spc="-25" b="0">
                <a:latin typeface="Arial"/>
                <a:cs typeface="Arial"/>
              </a:rPr>
              <a:t> </a:t>
            </a:r>
            <a:r>
              <a:rPr dirty="0" sz="1050" spc="-10" b="0">
                <a:latin typeface="Arial"/>
                <a:cs typeface="Arial"/>
              </a:rPr>
              <a:t>platform.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/>
              <a:t>Total</a:t>
            </a:r>
            <a:r>
              <a:rPr dirty="0" spc="-40"/>
              <a:t> </a:t>
            </a:r>
            <a:r>
              <a:rPr dirty="0"/>
              <a:t>Booking</a:t>
            </a:r>
            <a:r>
              <a:rPr dirty="0" spc="-40"/>
              <a:t> </a:t>
            </a:r>
            <a:r>
              <a:rPr dirty="0" spc="-10"/>
              <a:t>Value</a:t>
            </a: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050" b="0">
                <a:latin typeface="Arial"/>
                <a:cs typeface="Arial"/>
              </a:rPr>
              <a:t>Sum</a:t>
            </a:r>
            <a:r>
              <a:rPr dirty="0" sz="1050" spc="-40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of</a:t>
            </a:r>
            <a:r>
              <a:rPr dirty="0" sz="1050" spc="-35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all</a:t>
            </a:r>
            <a:r>
              <a:rPr dirty="0" sz="1050" spc="-40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booking</a:t>
            </a:r>
            <a:r>
              <a:rPr dirty="0" sz="1050" spc="-35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values,</a:t>
            </a:r>
            <a:r>
              <a:rPr dirty="0" sz="1050" spc="-40" b="0">
                <a:latin typeface="Arial"/>
                <a:cs typeface="Arial"/>
              </a:rPr>
              <a:t> </a:t>
            </a:r>
            <a:r>
              <a:rPr dirty="0" sz="1050" spc="-10" b="0">
                <a:latin typeface="Arial"/>
                <a:cs typeface="Arial"/>
              </a:rPr>
              <a:t>reflecting</a:t>
            </a:r>
            <a:r>
              <a:rPr dirty="0" sz="1050" spc="-35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overall</a:t>
            </a:r>
            <a:r>
              <a:rPr dirty="0" sz="1050" spc="-40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revenue</a:t>
            </a:r>
            <a:r>
              <a:rPr dirty="0" sz="1050" spc="-35" b="0">
                <a:latin typeface="Arial"/>
                <a:cs typeface="Arial"/>
              </a:rPr>
              <a:t> </a:t>
            </a:r>
            <a:r>
              <a:rPr dirty="0" sz="1050" spc="-10" b="0">
                <a:latin typeface="Arial"/>
                <a:cs typeface="Arial"/>
              </a:rPr>
              <a:t>potential.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/>
              <a:t>Ride</a:t>
            </a:r>
            <a:r>
              <a:rPr dirty="0" spc="-15"/>
              <a:t> </a:t>
            </a:r>
            <a:r>
              <a:rPr dirty="0"/>
              <a:t>Volume</a:t>
            </a:r>
            <a:r>
              <a:rPr dirty="0" spc="-15"/>
              <a:t> </a:t>
            </a:r>
            <a:r>
              <a:rPr dirty="0"/>
              <a:t>Over</a:t>
            </a:r>
            <a:r>
              <a:rPr dirty="0" spc="-15"/>
              <a:t> </a:t>
            </a:r>
            <a:r>
              <a:rPr dirty="0" spc="-20"/>
              <a:t>Time</a:t>
            </a: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050" b="0">
                <a:latin typeface="Arial"/>
                <a:cs typeface="Arial"/>
              </a:rPr>
              <a:t>Trend</a:t>
            </a:r>
            <a:r>
              <a:rPr dirty="0" sz="1050" spc="-40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analysis</a:t>
            </a:r>
            <a:r>
              <a:rPr dirty="0" sz="1050" spc="-40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of</a:t>
            </a:r>
            <a:r>
              <a:rPr dirty="0" sz="1050" spc="-35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booking</a:t>
            </a:r>
            <a:r>
              <a:rPr dirty="0" sz="1050" spc="-40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volumes</a:t>
            </a:r>
            <a:r>
              <a:rPr dirty="0" sz="1050" spc="-35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across</a:t>
            </a:r>
            <a:r>
              <a:rPr dirty="0" sz="1050" spc="-40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time</a:t>
            </a:r>
            <a:r>
              <a:rPr dirty="0" sz="1050" spc="-35" b="0">
                <a:latin typeface="Arial"/>
                <a:cs typeface="Arial"/>
              </a:rPr>
              <a:t> </a:t>
            </a:r>
            <a:r>
              <a:rPr dirty="0" sz="1050" spc="-10" b="0">
                <a:latin typeface="Arial"/>
                <a:cs typeface="Arial"/>
              </a:rPr>
              <a:t>periods.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/>
              <a:t>Booking</a:t>
            </a:r>
            <a:r>
              <a:rPr dirty="0" spc="-50"/>
              <a:t> </a:t>
            </a:r>
            <a:r>
              <a:rPr dirty="0"/>
              <a:t>Status</a:t>
            </a:r>
            <a:r>
              <a:rPr dirty="0" spc="-45"/>
              <a:t> </a:t>
            </a:r>
            <a:r>
              <a:rPr dirty="0" spc="-10"/>
              <a:t>Breakdown</a:t>
            </a: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050" spc="-10" b="0">
                <a:latin typeface="Arial"/>
                <a:cs typeface="Arial"/>
              </a:rPr>
              <a:t>Distribution</a:t>
            </a:r>
            <a:r>
              <a:rPr dirty="0" sz="1050" spc="-15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of</a:t>
            </a:r>
            <a:r>
              <a:rPr dirty="0" sz="1050" spc="-10" b="0">
                <a:latin typeface="Arial"/>
                <a:cs typeface="Arial"/>
              </a:rPr>
              <a:t> successful,</a:t>
            </a:r>
            <a:r>
              <a:rPr dirty="0" sz="1050" spc="-15" b="0">
                <a:latin typeface="Arial"/>
                <a:cs typeface="Arial"/>
              </a:rPr>
              <a:t> </a:t>
            </a:r>
            <a:r>
              <a:rPr dirty="0" sz="1050" spc="-10" b="0">
                <a:latin typeface="Arial"/>
                <a:cs typeface="Arial"/>
              </a:rPr>
              <a:t>cancelled, </a:t>
            </a:r>
            <a:r>
              <a:rPr dirty="0" sz="1050" b="0">
                <a:latin typeface="Arial"/>
                <a:cs typeface="Arial"/>
              </a:rPr>
              <a:t>and</a:t>
            </a:r>
            <a:r>
              <a:rPr dirty="0" sz="1050" spc="-15" b="0">
                <a:latin typeface="Arial"/>
                <a:cs typeface="Arial"/>
              </a:rPr>
              <a:t> </a:t>
            </a:r>
            <a:r>
              <a:rPr dirty="0" sz="1050" b="0">
                <a:latin typeface="Arial"/>
                <a:cs typeface="Arial"/>
              </a:rPr>
              <a:t>pending</a:t>
            </a:r>
            <a:r>
              <a:rPr dirty="0" sz="1050" spc="-10" b="0">
                <a:latin typeface="Arial"/>
                <a:cs typeface="Arial"/>
              </a:rPr>
              <a:t> bookings.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/>
              <a:t>Vehicle</a:t>
            </a:r>
            <a:r>
              <a:rPr dirty="0" sz="1400" spc="-15"/>
              <a:t> </a:t>
            </a:r>
            <a:r>
              <a:rPr dirty="0" sz="1400"/>
              <a:t>Type</a:t>
            </a:r>
            <a:r>
              <a:rPr dirty="0" sz="1400" spc="-10"/>
              <a:t> Dashboard</a:t>
            </a:r>
            <a:endParaRPr sz="1400"/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653216" y="2478959"/>
            <a:ext cx="3992245" cy="40449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700" b="1">
                <a:solidFill>
                  <a:srgbClr val="006746"/>
                </a:solidFill>
                <a:latin typeface="Arial"/>
                <a:cs typeface="Arial"/>
              </a:rPr>
              <a:t>Vehicle</a:t>
            </a:r>
            <a:r>
              <a:rPr dirty="0" sz="700" spc="-30" b="1">
                <a:solidFill>
                  <a:srgbClr val="006746"/>
                </a:solidFill>
                <a:latin typeface="Arial"/>
                <a:cs typeface="Arial"/>
              </a:rPr>
              <a:t> </a:t>
            </a:r>
            <a:r>
              <a:rPr dirty="0" sz="700" spc="-10" b="1">
                <a:solidFill>
                  <a:srgbClr val="006746"/>
                </a:solidFill>
                <a:latin typeface="Arial"/>
                <a:cs typeface="Arial"/>
              </a:rPr>
              <a:t>Performance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550">
                <a:solidFill>
                  <a:srgbClr val="4A4949"/>
                </a:solidFill>
                <a:latin typeface="Arial"/>
                <a:cs typeface="Arial"/>
              </a:rPr>
              <a:t>This</a:t>
            </a:r>
            <a:r>
              <a:rPr dirty="0" sz="550" spc="-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4A4949"/>
                </a:solidFill>
                <a:latin typeface="Arial"/>
                <a:cs typeface="Arial"/>
              </a:rPr>
              <a:t>dashboard breaks down key metrics by vehicle</a:t>
            </a:r>
            <a:r>
              <a:rPr dirty="0" sz="550" spc="-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4A4949"/>
                </a:solidFill>
                <a:latin typeface="Arial"/>
                <a:cs typeface="Arial"/>
              </a:rPr>
              <a:t>type — </a:t>
            </a:r>
            <a:r>
              <a:rPr dirty="0" sz="550" spc="-10">
                <a:solidFill>
                  <a:srgbClr val="4A4949"/>
                </a:solidFill>
                <a:latin typeface="Arial"/>
                <a:cs typeface="Arial"/>
              </a:rPr>
              <a:t>including</a:t>
            </a:r>
            <a:r>
              <a:rPr dirty="0" sz="550">
                <a:solidFill>
                  <a:srgbClr val="4A4949"/>
                </a:solidFill>
                <a:latin typeface="Arial"/>
                <a:cs typeface="Arial"/>
              </a:rPr>
              <a:t> booking value, </a:t>
            </a:r>
            <a:r>
              <a:rPr dirty="0" sz="550" spc="-10">
                <a:solidFill>
                  <a:srgbClr val="4A4949"/>
                </a:solidFill>
                <a:latin typeface="Arial"/>
                <a:cs typeface="Arial"/>
              </a:rPr>
              <a:t>successful</a:t>
            </a:r>
            <a:r>
              <a:rPr dirty="0" sz="550">
                <a:solidFill>
                  <a:srgbClr val="4A4949"/>
                </a:solidFill>
                <a:latin typeface="Arial"/>
                <a:cs typeface="Arial"/>
              </a:rPr>
              <a:t> bookings,</a:t>
            </a:r>
            <a:r>
              <a:rPr dirty="0" sz="550" spc="-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4A4949"/>
                </a:solidFill>
                <a:latin typeface="Arial"/>
                <a:cs typeface="Arial"/>
              </a:rPr>
              <a:t>and distance </a:t>
            </a:r>
            <a:r>
              <a:rPr dirty="0" sz="550" spc="-10">
                <a:solidFill>
                  <a:srgbClr val="4A4949"/>
                </a:solidFill>
                <a:latin typeface="Arial"/>
                <a:cs typeface="Arial"/>
              </a:rPr>
              <a:t>travelled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550">
                <a:solidFill>
                  <a:srgbClr val="4A4949"/>
                </a:solidFill>
                <a:latin typeface="Arial"/>
                <a:cs typeface="Arial"/>
              </a:rPr>
              <a:t>—</a:t>
            </a:r>
            <a:r>
              <a:rPr dirty="0" sz="550" spc="1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4A4949"/>
                </a:solidFill>
                <a:latin typeface="Arial"/>
                <a:cs typeface="Arial"/>
              </a:rPr>
              <a:t>enabling</a:t>
            </a:r>
            <a:r>
              <a:rPr dirty="0" sz="550" spc="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4A4949"/>
                </a:solidFill>
                <a:latin typeface="Arial"/>
                <a:cs typeface="Arial"/>
              </a:rPr>
              <a:t>comparison</a:t>
            </a:r>
            <a:r>
              <a:rPr dirty="0" sz="550" spc="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4A4949"/>
                </a:solidFill>
                <a:latin typeface="Arial"/>
                <a:cs typeface="Arial"/>
              </a:rPr>
              <a:t>of</a:t>
            </a:r>
            <a:r>
              <a:rPr dirty="0" sz="550" spc="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4A4949"/>
                </a:solidFill>
                <a:latin typeface="Arial"/>
                <a:cs typeface="Arial"/>
              </a:rPr>
              <a:t>performance</a:t>
            </a:r>
            <a:r>
              <a:rPr dirty="0" sz="550" spc="1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4A4949"/>
                </a:solidFill>
                <a:latin typeface="Arial"/>
                <a:cs typeface="Arial"/>
              </a:rPr>
              <a:t>across</a:t>
            </a:r>
            <a:r>
              <a:rPr dirty="0" sz="550" spc="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4A4949"/>
                </a:solidFill>
                <a:latin typeface="Arial"/>
                <a:cs typeface="Arial"/>
              </a:rPr>
              <a:t>the</a:t>
            </a:r>
            <a:r>
              <a:rPr dirty="0" sz="550" spc="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4A4949"/>
                </a:solidFill>
                <a:latin typeface="Arial"/>
                <a:cs typeface="Arial"/>
              </a:rPr>
              <a:t>fleet.</a:t>
            </a:r>
            <a:endParaRPr sz="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12412" y="799653"/>
            <a:ext cx="3399790" cy="444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/>
              <a:t>Revenue</a:t>
            </a:r>
            <a:r>
              <a:rPr dirty="0" sz="2750" spc="-20"/>
              <a:t> </a:t>
            </a:r>
            <a:r>
              <a:rPr dirty="0" sz="2750" spc="-10"/>
              <a:t>Dashboard</a:t>
            </a:r>
            <a:endParaRPr sz="2750"/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25112" y="1475333"/>
            <a:ext cx="4722761" cy="854938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925112" y="1475333"/>
            <a:ext cx="4723130" cy="855344"/>
          </a:xfrm>
          <a:prstGeom prst="rect">
            <a:avLst/>
          </a:prstGeom>
        </p:spPr>
        <p:txBody>
          <a:bodyPr wrap="square" lIns="0" tIns="156845" rIns="0" bIns="0" rtlCol="0" vert="horz">
            <a:spAutoFit/>
          </a:bodyPr>
          <a:lstStyle/>
          <a:p>
            <a:pPr marL="236854">
              <a:lnSpc>
                <a:spcPct val="100000"/>
              </a:lnSpc>
              <a:spcBef>
                <a:spcPts val="1235"/>
              </a:spcBef>
            </a:pP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Revenue</a:t>
            </a:r>
            <a:r>
              <a:rPr dirty="0" sz="1350" spc="-25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by</a:t>
            </a:r>
            <a:r>
              <a:rPr dirty="0" sz="1350" spc="-20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Payment</a:t>
            </a:r>
            <a:r>
              <a:rPr dirty="0" sz="1350" spc="-20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4A4949"/>
                </a:solidFill>
                <a:latin typeface="Arial"/>
                <a:cs typeface="Arial"/>
              </a:rPr>
              <a:t>Method</a:t>
            </a:r>
            <a:endParaRPr sz="1350">
              <a:latin typeface="Arial"/>
              <a:cs typeface="Arial"/>
            </a:endParaRPr>
          </a:p>
          <a:p>
            <a:pPr marL="236854">
              <a:lnSpc>
                <a:spcPct val="100000"/>
              </a:lnSpc>
              <a:spcBef>
                <a:spcPts val="800"/>
              </a:spcBef>
            </a:pP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Breakdown</a:t>
            </a:r>
            <a:r>
              <a:rPr dirty="0" sz="11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of</a:t>
            </a:r>
            <a:r>
              <a:rPr dirty="0" sz="11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total</a:t>
            </a:r>
            <a:r>
              <a:rPr dirty="0" sz="11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revenue</a:t>
            </a:r>
            <a:r>
              <a:rPr dirty="0" sz="11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segmented</a:t>
            </a:r>
            <a:r>
              <a:rPr dirty="0" sz="11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by</a:t>
            </a:r>
            <a:r>
              <a:rPr dirty="0" sz="11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payment</a:t>
            </a:r>
            <a:r>
              <a:rPr dirty="0" sz="11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type.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25112" y="2472029"/>
            <a:ext cx="4722761" cy="854938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925112" y="2472029"/>
            <a:ext cx="4723130" cy="855344"/>
          </a:xfrm>
          <a:prstGeom prst="rect">
            <a:avLst/>
          </a:prstGeom>
        </p:spPr>
        <p:txBody>
          <a:bodyPr wrap="square" lIns="0" tIns="156845" rIns="0" bIns="0" rtlCol="0" vert="horz">
            <a:spAutoFit/>
          </a:bodyPr>
          <a:lstStyle/>
          <a:p>
            <a:pPr marL="236854">
              <a:lnSpc>
                <a:spcPct val="100000"/>
              </a:lnSpc>
              <a:spcBef>
                <a:spcPts val="1235"/>
              </a:spcBef>
            </a:pP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Top</a:t>
            </a:r>
            <a:r>
              <a:rPr dirty="0" sz="1350" spc="-15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5</a:t>
            </a:r>
            <a:r>
              <a:rPr dirty="0" sz="1350" spc="-10" b="1">
                <a:solidFill>
                  <a:srgbClr val="4A4949"/>
                </a:solidFill>
                <a:latin typeface="Arial"/>
                <a:cs typeface="Arial"/>
              </a:rPr>
              <a:t> Customers</a:t>
            </a:r>
            <a:endParaRPr sz="1350">
              <a:latin typeface="Arial"/>
              <a:cs typeface="Arial"/>
            </a:endParaRPr>
          </a:p>
          <a:p>
            <a:pPr marL="236854">
              <a:lnSpc>
                <a:spcPct val="100000"/>
              </a:lnSpc>
              <a:spcBef>
                <a:spcPts val="800"/>
              </a:spcBef>
            </a:pP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Ranking</a:t>
            </a:r>
            <a:r>
              <a:rPr dirty="0" sz="1100" spc="-3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of</a:t>
            </a:r>
            <a:r>
              <a:rPr dirty="0" sz="1100" spc="-3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highest-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value</a:t>
            </a:r>
            <a:r>
              <a:rPr dirty="0" sz="1100" spc="-3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customers</a:t>
            </a:r>
            <a:r>
              <a:rPr dirty="0" sz="1100" spc="-3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by</a:t>
            </a:r>
            <a:r>
              <a:rPr dirty="0" sz="1100" spc="-3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total</a:t>
            </a:r>
            <a:r>
              <a:rPr dirty="0" sz="1100" spc="-3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booking</a:t>
            </a:r>
            <a:r>
              <a:rPr dirty="0" sz="1100" spc="-3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spend.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25112" y="3468738"/>
            <a:ext cx="4722761" cy="854938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925112" y="3468738"/>
            <a:ext cx="4723130" cy="855344"/>
          </a:xfrm>
          <a:prstGeom prst="rect">
            <a:avLst/>
          </a:prstGeom>
        </p:spPr>
        <p:txBody>
          <a:bodyPr wrap="square" lIns="0" tIns="156845" rIns="0" bIns="0" rtlCol="0" vert="horz">
            <a:spAutoFit/>
          </a:bodyPr>
          <a:lstStyle/>
          <a:p>
            <a:pPr marL="236854">
              <a:lnSpc>
                <a:spcPct val="100000"/>
              </a:lnSpc>
              <a:spcBef>
                <a:spcPts val="1235"/>
              </a:spcBef>
            </a:pP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Daily</a:t>
            </a:r>
            <a:r>
              <a:rPr dirty="0" sz="1350" spc="-20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Revenue</a:t>
            </a:r>
            <a:r>
              <a:rPr dirty="0" sz="1350" spc="-20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4A4949"/>
                </a:solidFill>
                <a:latin typeface="Arial"/>
                <a:cs typeface="Arial"/>
              </a:rPr>
              <a:t>Trend</a:t>
            </a:r>
            <a:endParaRPr sz="1350">
              <a:latin typeface="Arial"/>
              <a:cs typeface="Arial"/>
            </a:endParaRPr>
          </a:p>
          <a:p>
            <a:pPr marL="236854">
              <a:lnSpc>
                <a:spcPct val="100000"/>
              </a:lnSpc>
              <a:spcBef>
                <a:spcPts val="800"/>
              </a:spcBef>
            </a:pP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Day-by-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day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revenue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fluctuations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to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identify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peak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periods.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Cancellation</a:t>
            </a:r>
            <a:r>
              <a:rPr dirty="0" spc="-155"/>
              <a:t> </a:t>
            </a:r>
            <a:r>
              <a:rPr dirty="0" spc="-10"/>
              <a:t>Dashboard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493737" y="1498847"/>
            <a:ext cx="304165" cy="304165"/>
            <a:chOff x="493737" y="1498847"/>
            <a:chExt cx="304165" cy="304165"/>
          </a:xfrm>
        </p:grpSpPr>
        <p:sp>
          <p:nvSpPr>
            <p:cNvPr id="5" name="object 5" descr=""/>
            <p:cNvSpPr/>
            <p:nvPr/>
          </p:nvSpPr>
          <p:spPr>
            <a:xfrm>
              <a:off x="496119" y="1501228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79379" y="0"/>
                  </a:moveTo>
                  <a:lnTo>
                    <a:pt x="119616" y="0"/>
                  </a:lnTo>
                  <a:lnTo>
                    <a:pt x="73242" y="9462"/>
                  </a:lnTo>
                  <a:lnTo>
                    <a:pt x="35200" y="35202"/>
                  </a:lnTo>
                  <a:lnTo>
                    <a:pt x="9462" y="73246"/>
                  </a:lnTo>
                  <a:lnTo>
                    <a:pt x="0" y="119621"/>
                  </a:lnTo>
                  <a:lnTo>
                    <a:pt x="0" y="179374"/>
                  </a:lnTo>
                  <a:lnTo>
                    <a:pt x="9462" y="225749"/>
                  </a:lnTo>
                  <a:lnTo>
                    <a:pt x="35200" y="263793"/>
                  </a:lnTo>
                  <a:lnTo>
                    <a:pt x="73242" y="289533"/>
                  </a:lnTo>
                  <a:lnTo>
                    <a:pt x="119616" y="298996"/>
                  </a:lnTo>
                  <a:lnTo>
                    <a:pt x="179379" y="298996"/>
                  </a:lnTo>
                  <a:lnTo>
                    <a:pt x="225753" y="289533"/>
                  </a:lnTo>
                  <a:lnTo>
                    <a:pt x="263795" y="263793"/>
                  </a:lnTo>
                  <a:lnTo>
                    <a:pt x="289533" y="225749"/>
                  </a:lnTo>
                  <a:lnTo>
                    <a:pt x="298996" y="179374"/>
                  </a:lnTo>
                  <a:lnTo>
                    <a:pt x="298996" y="119621"/>
                  </a:lnTo>
                  <a:lnTo>
                    <a:pt x="289533" y="73246"/>
                  </a:lnTo>
                  <a:lnTo>
                    <a:pt x="263795" y="35202"/>
                  </a:lnTo>
                  <a:lnTo>
                    <a:pt x="225753" y="9462"/>
                  </a:lnTo>
                  <a:lnTo>
                    <a:pt x="179379" y="0"/>
                  </a:lnTo>
                  <a:close/>
                </a:path>
              </a:pathLst>
            </a:custGeom>
            <a:solidFill>
              <a:srgbClr val="D1EE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6119" y="1501228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19621"/>
                  </a:moveTo>
                  <a:lnTo>
                    <a:pt x="9462" y="73246"/>
                  </a:lnTo>
                  <a:lnTo>
                    <a:pt x="35200" y="35202"/>
                  </a:lnTo>
                  <a:lnTo>
                    <a:pt x="73242" y="9462"/>
                  </a:lnTo>
                  <a:lnTo>
                    <a:pt x="119616" y="0"/>
                  </a:lnTo>
                  <a:lnTo>
                    <a:pt x="179379" y="0"/>
                  </a:lnTo>
                  <a:lnTo>
                    <a:pt x="225753" y="9462"/>
                  </a:lnTo>
                  <a:lnTo>
                    <a:pt x="263795" y="35202"/>
                  </a:lnTo>
                  <a:lnTo>
                    <a:pt x="289533" y="73246"/>
                  </a:lnTo>
                  <a:lnTo>
                    <a:pt x="298996" y="119621"/>
                  </a:lnTo>
                  <a:lnTo>
                    <a:pt x="298996" y="179374"/>
                  </a:lnTo>
                  <a:lnTo>
                    <a:pt x="289533" y="225749"/>
                  </a:lnTo>
                  <a:lnTo>
                    <a:pt x="263795" y="263793"/>
                  </a:lnTo>
                  <a:lnTo>
                    <a:pt x="225753" y="289533"/>
                  </a:lnTo>
                  <a:lnTo>
                    <a:pt x="179379" y="298996"/>
                  </a:lnTo>
                  <a:lnTo>
                    <a:pt x="119616" y="298996"/>
                  </a:lnTo>
                  <a:lnTo>
                    <a:pt x="73242" y="289533"/>
                  </a:lnTo>
                  <a:lnTo>
                    <a:pt x="35200" y="263793"/>
                  </a:lnTo>
                  <a:lnTo>
                    <a:pt x="9462" y="225749"/>
                  </a:lnTo>
                  <a:lnTo>
                    <a:pt x="0" y="179374"/>
                  </a:lnTo>
                  <a:lnTo>
                    <a:pt x="0" y="119621"/>
                  </a:lnTo>
                  <a:close/>
                </a:path>
              </a:pathLst>
            </a:custGeom>
            <a:ln w="4762">
              <a:solidFill>
                <a:srgbClr val="B7D4C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493737" y="2745504"/>
            <a:ext cx="304165" cy="304165"/>
            <a:chOff x="493737" y="2745504"/>
            <a:chExt cx="304165" cy="304165"/>
          </a:xfrm>
        </p:grpSpPr>
        <p:sp>
          <p:nvSpPr>
            <p:cNvPr id="8" name="object 8" descr=""/>
            <p:cNvSpPr/>
            <p:nvPr/>
          </p:nvSpPr>
          <p:spPr>
            <a:xfrm>
              <a:off x="496119" y="2747886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79379" y="0"/>
                  </a:moveTo>
                  <a:lnTo>
                    <a:pt x="119616" y="0"/>
                  </a:lnTo>
                  <a:lnTo>
                    <a:pt x="73242" y="9462"/>
                  </a:lnTo>
                  <a:lnTo>
                    <a:pt x="35200" y="35202"/>
                  </a:lnTo>
                  <a:lnTo>
                    <a:pt x="9462" y="73246"/>
                  </a:lnTo>
                  <a:lnTo>
                    <a:pt x="0" y="119621"/>
                  </a:lnTo>
                  <a:lnTo>
                    <a:pt x="0" y="179374"/>
                  </a:lnTo>
                  <a:lnTo>
                    <a:pt x="9462" y="225749"/>
                  </a:lnTo>
                  <a:lnTo>
                    <a:pt x="35200" y="263793"/>
                  </a:lnTo>
                  <a:lnTo>
                    <a:pt x="73242" y="289533"/>
                  </a:lnTo>
                  <a:lnTo>
                    <a:pt x="119616" y="298996"/>
                  </a:lnTo>
                  <a:lnTo>
                    <a:pt x="179379" y="298996"/>
                  </a:lnTo>
                  <a:lnTo>
                    <a:pt x="225753" y="289533"/>
                  </a:lnTo>
                  <a:lnTo>
                    <a:pt x="263795" y="263793"/>
                  </a:lnTo>
                  <a:lnTo>
                    <a:pt x="289533" y="225749"/>
                  </a:lnTo>
                  <a:lnTo>
                    <a:pt x="298996" y="179374"/>
                  </a:lnTo>
                  <a:lnTo>
                    <a:pt x="298996" y="119621"/>
                  </a:lnTo>
                  <a:lnTo>
                    <a:pt x="289533" y="73246"/>
                  </a:lnTo>
                  <a:lnTo>
                    <a:pt x="263795" y="35202"/>
                  </a:lnTo>
                  <a:lnTo>
                    <a:pt x="225753" y="9462"/>
                  </a:lnTo>
                  <a:lnTo>
                    <a:pt x="179379" y="0"/>
                  </a:lnTo>
                  <a:close/>
                </a:path>
              </a:pathLst>
            </a:custGeom>
            <a:solidFill>
              <a:srgbClr val="D1EE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96119" y="2747886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19621"/>
                  </a:moveTo>
                  <a:lnTo>
                    <a:pt x="9462" y="73246"/>
                  </a:lnTo>
                  <a:lnTo>
                    <a:pt x="35200" y="35202"/>
                  </a:lnTo>
                  <a:lnTo>
                    <a:pt x="73242" y="9462"/>
                  </a:lnTo>
                  <a:lnTo>
                    <a:pt x="119616" y="0"/>
                  </a:lnTo>
                  <a:lnTo>
                    <a:pt x="179379" y="0"/>
                  </a:lnTo>
                  <a:lnTo>
                    <a:pt x="225753" y="9462"/>
                  </a:lnTo>
                  <a:lnTo>
                    <a:pt x="263795" y="35202"/>
                  </a:lnTo>
                  <a:lnTo>
                    <a:pt x="289533" y="73246"/>
                  </a:lnTo>
                  <a:lnTo>
                    <a:pt x="298996" y="119621"/>
                  </a:lnTo>
                  <a:lnTo>
                    <a:pt x="298996" y="179374"/>
                  </a:lnTo>
                  <a:lnTo>
                    <a:pt x="289533" y="225749"/>
                  </a:lnTo>
                  <a:lnTo>
                    <a:pt x="263795" y="263793"/>
                  </a:lnTo>
                  <a:lnTo>
                    <a:pt x="225753" y="289533"/>
                  </a:lnTo>
                  <a:lnTo>
                    <a:pt x="179379" y="298996"/>
                  </a:lnTo>
                  <a:lnTo>
                    <a:pt x="119616" y="298996"/>
                  </a:lnTo>
                  <a:lnTo>
                    <a:pt x="73242" y="289533"/>
                  </a:lnTo>
                  <a:lnTo>
                    <a:pt x="35200" y="263793"/>
                  </a:lnTo>
                  <a:lnTo>
                    <a:pt x="9462" y="225749"/>
                  </a:lnTo>
                  <a:lnTo>
                    <a:pt x="0" y="179374"/>
                  </a:lnTo>
                  <a:lnTo>
                    <a:pt x="0" y="119621"/>
                  </a:lnTo>
                  <a:close/>
                </a:path>
              </a:pathLst>
            </a:custGeom>
            <a:ln w="4762">
              <a:solidFill>
                <a:srgbClr val="B7D4C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493737" y="3784479"/>
            <a:ext cx="304165" cy="304165"/>
            <a:chOff x="493737" y="3784479"/>
            <a:chExt cx="304165" cy="304165"/>
          </a:xfrm>
        </p:grpSpPr>
        <p:sp>
          <p:nvSpPr>
            <p:cNvPr id="11" name="object 11" descr=""/>
            <p:cNvSpPr/>
            <p:nvPr/>
          </p:nvSpPr>
          <p:spPr>
            <a:xfrm>
              <a:off x="496119" y="3786860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79379" y="0"/>
                  </a:moveTo>
                  <a:lnTo>
                    <a:pt x="119616" y="0"/>
                  </a:lnTo>
                  <a:lnTo>
                    <a:pt x="73242" y="9462"/>
                  </a:lnTo>
                  <a:lnTo>
                    <a:pt x="35200" y="35202"/>
                  </a:lnTo>
                  <a:lnTo>
                    <a:pt x="9462" y="73246"/>
                  </a:lnTo>
                  <a:lnTo>
                    <a:pt x="0" y="119621"/>
                  </a:lnTo>
                  <a:lnTo>
                    <a:pt x="0" y="179374"/>
                  </a:lnTo>
                  <a:lnTo>
                    <a:pt x="9462" y="225749"/>
                  </a:lnTo>
                  <a:lnTo>
                    <a:pt x="35200" y="263793"/>
                  </a:lnTo>
                  <a:lnTo>
                    <a:pt x="73242" y="289533"/>
                  </a:lnTo>
                  <a:lnTo>
                    <a:pt x="119616" y="298996"/>
                  </a:lnTo>
                  <a:lnTo>
                    <a:pt x="179379" y="298996"/>
                  </a:lnTo>
                  <a:lnTo>
                    <a:pt x="225753" y="289533"/>
                  </a:lnTo>
                  <a:lnTo>
                    <a:pt x="263795" y="263793"/>
                  </a:lnTo>
                  <a:lnTo>
                    <a:pt x="289533" y="225749"/>
                  </a:lnTo>
                  <a:lnTo>
                    <a:pt x="298996" y="179374"/>
                  </a:lnTo>
                  <a:lnTo>
                    <a:pt x="298996" y="119621"/>
                  </a:lnTo>
                  <a:lnTo>
                    <a:pt x="289533" y="73246"/>
                  </a:lnTo>
                  <a:lnTo>
                    <a:pt x="263795" y="35202"/>
                  </a:lnTo>
                  <a:lnTo>
                    <a:pt x="225753" y="9462"/>
                  </a:lnTo>
                  <a:lnTo>
                    <a:pt x="179379" y="0"/>
                  </a:lnTo>
                  <a:close/>
                </a:path>
              </a:pathLst>
            </a:custGeom>
            <a:solidFill>
              <a:srgbClr val="D1EE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96119" y="3786860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19621"/>
                  </a:moveTo>
                  <a:lnTo>
                    <a:pt x="9462" y="73246"/>
                  </a:lnTo>
                  <a:lnTo>
                    <a:pt x="35200" y="35202"/>
                  </a:lnTo>
                  <a:lnTo>
                    <a:pt x="73242" y="9462"/>
                  </a:lnTo>
                  <a:lnTo>
                    <a:pt x="119616" y="0"/>
                  </a:lnTo>
                  <a:lnTo>
                    <a:pt x="179379" y="0"/>
                  </a:lnTo>
                  <a:lnTo>
                    <a:pt x="225753" y="9462"/>
                  </a:lnTo>
                  <a:lnTo>
                    <a:pt x="263795" y="35202"/>
                  </a:lnTo>
                  <a:lnTo>
                    <a:pt x="289533" y="73246"/>
                  </a:lnTo>
                  <a:lnTo>
                    <a:pt x="298996" y="119621"/>
                  </a:lnTo>
                  <a:lnTo>
                    <a:pt x="298996" y="179374"/>
                  </a:lnTo>
                  <a:lnTo>
                    <a:pt x="289533" y="225749"/>
                  </a:lnTo>
                  <a:lnTo>
                    <a:pt x="263795" y="263793"/>
                  </a:lnTo>
                  <a:lnTo>
                    <a:pt x="225753" y="289533"/>
                  </a:lnTo>
                  <a:lnTo>
                    <a:pt x="179379" y="298996"/>
                  </a:lnTo>
                  <a:lnTo>
                    <a:pt x="119616" y="298996"/>
                  </a:lnTo>
                  <a:lnTo>
                    <a:pt x="73242" y="289533"/>
                  </a:lnTo>
                  <a:lnTo>
                    <a:pt x="35200" y="263793"/>
                  </a:lnTo>
                  <a:lnTo>
                    <a:pt x="9462" y="225749"/>
                  </a:lnTo>
                  <a:lnTo>
                    <a:pt x="0" y="179374"/>
                  </a:lnTo>
                  <a:lnTo>
                    <a:pt x="0" y="119621"/>
                  </a:lnTo>
                  <a:close/>
                </a:path>
              </a:pathLst>
            </a:custGeom>
            <a:ln w="4762">
              <a:solidFill>
                <a:srgbClr val="B7D4C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83419" y="1137225"/>
            <a:ext cx="2649855" cy="3387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006746"/>
                </a:solidFill>
                <a:latin typeface="Arial"/>
                <a:cs typeface="Arial"/>
              </a:rPr>
              <a:t>Cancellation</a:t>
            </a:r>
            <a:r>
              <a:rPr dirty="0" sz="1300" spc="10" b="1">
                <a:solidFill>
                  <a:srgbClr val="006746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006746"/>
                </a:solidFill>
                <a:latin typeface="Arial"/>
                <a:cs typeface="Arial"/>
              </a:rPr>
              <a:t>Metrics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Arial"/>
              <a:cs typeface="Arial"/>
            </a:endParaRPr>
          </a:p>
          <a:p>
            <a:pPr marL="436245">
              <a:lnSpc>
                <a:spcPct val="100000"/>
              </a:lnSpc>
            </a:pPr>
            <a:r>
              <a:rPr dirty="0" sz="1300" b="1">
                <a:solidFill>
                  <a:srgbClr val="4A4949"/>
                </a:solidFill>
                <a:latin typeface="Arial"/>
                <a:cs typeface="Arial"/>
              </a:rPr>
              <a:t>Customer</a:t>
            </a:r>
            <a:r>
              <a:rPr dirty="0" sz="1300" spc="-25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4A4949"/>
                </a:solidFill>
                <a:latin typeface="Arial"/>
                <a:cs typeface="Arial"/>
              </a:rPr>
              <a:t>Cancellation</a:t>
            </a:r>
            <a:r>
              <a:rPr dirty="0" sz="1300" spc="-25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00" spc="-20" b="1">
                <a:solidFill>
                  <a:srgbClr val="4A4949"/>
                </a:solidFill>
                <a:latin typeface="Arial"/>
                <a:cs typeface="Arial"/>
              </a:rPr>
              <a:t>Rate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300">
              <a:latin typeface="Arial"/>
              <a:cs typeface="Arial"/>
            </a:endParaRPr>
          </a:p>
          <a:p>
            <a:pPr marL="436245" marR="130175">
              <a:lnSpc>
                <a:spcPct val="129000"/>
              </a:lnSpc>
            </a:pPr>
            <a:r>
              <a:rPr dirty="0" sz="1000">
                <a:solidFill>
                  <a:srgbClr val="4A4949"/>
                </a:solidFill>
                <a:latin typeface="Arial"/>
                <a:cs typeface="Arial"/>
              </a:rPr>
              <a:t>Percentage</a:t>
            </a:r>
            <a:r>
              <a:rPr dirty="0" sz="10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A4949"/>
                </a:solidFill>
                <a:latin typeface="Arial"/>
                <a:cs typeface="Arial"/>
              </a:rPr>
              <a:t>of</a:t>
            </a:r>
            <a:r>
              <a:rPr dirty="0" sz="10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A4949"/>
                </a:solidFill>
                <a:latin typeface="Arial"/>
                <a:cs typeface="Arial"/>
              </a:rPr>
              <a:t>bookings</a:t>
            </a:r>
            <a:r>
              <a:rPr dirty="0" sz="10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A4949"/>
                </a:solidFill>
                <a:latin typeface="Arial"/>
                <a:cs typeface="Arial"/>
              </a:rPr>
              <a:t>cancelled</a:t>
            </a:r>
            <a:r>
              <a:rPr dirty="0" sz="10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4A4949"/>
                </a:solidFill>
                <a:latin typeface="Arial"/>
                <a:cs typeface="Arial"/>
              </a:rPr>
              <a:t>by </a:t>
            </a:r>
            <a:r>
              <a:rPr dirty="0" sz="1000" spc="-10">
                <a:solidFill>
                  <a:srgbClr val="4A4949"/>
                </a:solidFill>
                <a:latin typeface="Arial"/>
                <a:cs typeface="Arial"/>
              </a:rPr>
              <a:t>customers.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000">
              <a:latin typeface="Arial"/>
              <a:cs typeface="Arial"/>
            </a:endParaRPr>
          </a:p>
          <a:p>
            <a:pPr marL="436245">
              <a:lnSpc>
                <a:spcPct val="100000"/>
              </a:lnSpc>
            </a:pPr>
            <a:r>
              <a:rPr dirty="0" sz="1300" b="1">
                <a:solidFill>
                  <a:srgbClr val="4A4949"/>
                </a:solidFill>
                <a:latin typeface="Arial"/>
                <a:cs typeface="Arial"/>
              </a:rPr>
              <a:t>Driver</a:t>
            </a:r>
            <a:r>
              <a:rPr dirty="0" sz="1300" spc="-5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4A4949"/>
                </a:solidFill>
                <a:latin typeface="Arial"/>
                <a:cs typeface="Arial"/>
              </a:rPr>
              <a:t>Cancellation</a:t>
            </a:r>
            <a:r>
              <a:rPr dirty="0" sz="1300" spc="-5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00" spc="-20" b="1">
                <a:solidFill>
                  <a:srgbClr val="4A4949"/>
                </a:solidFill>
                <a:latin typeface="Arial"/>
                <a:cs typeface="Arial"/>
              </a:rPr>
              <a:t>Rate</a:t>
            </a:r>
            <a:endParaRPr sz="1300">
              <a:latin typeface="Arial"/>
              <a:cs typeface="Arial"/>
            </a:endParaRPr>
          </a:p>
          <a:p>
            <a:pPr marL="436245" marR="130175">
              <a:lnSpc>
                <a:spcPct val="129000"/>
              </a:lnSpc>
              <a:spcBef>
                <a:spcPts val="715"/>
              </a:spcBef>
            </a:pPr>
            <a:r>
              <a:rPr dirty="0" sz="1000">
                <a:solidFill>
                  <a:srgbClr val="4A4949"/>
                </a:solidFill>
                <a:latin typeface="Arial"/>
                <a:cs typeface="Arial"/>
              </a:rPr>
              <a:t>Percentage</a:t>
            </a:r>
            <a:r>
              <a:rPr dirty="0" sz="10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A4949"/>
                </a:solidFill>
                <a:latin typeface="Arial"/>
                <a:cs typeface="Arial"/>
              </a:rPr>
              <a:t>of</a:t>
            </a:r>
            <a:r>
              <a:rPr dirty="0" sz="10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A4949"/>
                </a:solidFill>
                <a:latin typeface="Arial"/>
                <a:cs typeface="Arial"/>
              </a:rPr>
              <a:t>bookings</a:t>
            </a:r>
            <a:r>
              <a:rPr dirty="0" sz="10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A4949"/>
                </a:solidFill>
                <a:latin typeface="Arial"/>
                <a:cs typeface="Arial"/>
              </a:rPr>
              <a:t>cancelled</a:t>
            </a:r>
            <a:r>
              <a:rPr dirty="0" sz="10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4A4949"/>
                </a:solidFill>
                <a:latin typeface="Arial"/>
                <a:cs typeface="Arial"/>
              </a:rPr>
              <a:t>by </a:t>
            </a:r>
            <a:r>
              <a:rPr dirty="0" sz="1000" spc="-10">
                <a:solidFill>
                  <a:srgbClr val="4A4949"/>
                </a:solidFill>
                <a:latin typeface="Arial"/>
                <a:cs typeface="Arial"/>
              </a:rPr>
              <a:t>drivers.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000">
              <a:latin typeface="Arial"/>
              <a:cs typeface="Arial"/>
            </a:endParaRPr>
          </a:p>
          <a:p>
            <a:pPr marL="436245">
              <a:lnSpc>
                <a:spcPct val="100000"/>
              </a:lnSpc>
            </a:pPr>
            <a:r>
              <a:rPr dirty="0" sz="1300" spc="-10" b="1">
                <a:solidFill>
                  <a:srgbClr val="4A4949"/>
                </a:solidFill>
                <a:latin typeface="Arial"/>
                <a:cs typeface="Arial"/>
              </a:rPr>
              <a:t>Cancellation</a:t>
            </a:r>
            <a:r>
              <a:rPr dirty="0" sz="1300" spc="10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4A4949"/>
                </a:solidFill>
                <a:latin typeface="Arial"/>
                <a:cs typeface="Arial"/>
              </a:rPr>
              <a:t>Reasons</a:t>
            </a:r>
            <a:endParaRPr sz="1300">
              <a:latin typeface="Arial"/>
              <a:cs typeface="Arial"/>
            </a:endParaRPr>
          </a:p>
          <a:p>
            <a:pPr marL="436245" marR="271145">
              <a:lnSpc>
                <a:spcPct val="129000"/>
              </a:lnSpc>
              <a:spcBef>
                <a:spcPts val="715"/>
              </a:spcBef>
            </a:pPr>
            <a:r>
              <a:rPr dirty="0" sz="1000">
                <a:solidFill>
                  <a:srgbClr val="4A4949"/>
                </a:solidFill>
                <a:latin typeface="Arial"/>
                <a:cs typeface="Arial"/>
              </a:rPr>
              <a:t>Breakdown</a:t>
            </a:r>
            <a:r>
              <a:rPr dirty="0" sz="10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A4949"/>
                </a:solidFill>
                <a:latin typeface="Arial"/>
                <a:cs typeface="Arial"/>
              </a:rPr>
              <a:t>of</a:t>
            </a:r>
            <a:r>
              <a:rPr dirty="0" sz="10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A4949"/>
                </a:solidFill>
                <a:latin typeface="Arial"/>
                <a:cs typeface="Arial"/>
              </a:rPr>
              <a:t>the</a:t>
            </a:r>
            <a:r>
              <a:rPr dirty="0" sz="10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A4949"/>
                </a:solidFill>
                <a:latin typeface="Arial"/>
                <a:cs typeface="Arial"/>
              </a:rPr>
              <a:t>primary</a:t>
            </a:r>
            <a:r>
              <a:rPr dirty="0" sz="10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4A4949"/>
                </a:solidFill>
                <a:latin typeface="Arial"/>
                <a:cs typeface="Arial"/>
              </a:rPr>
              <a:t>reasons </a:t>
            </a:r>
            <a:r>
              <a:rPr dirty="0" sz="1000">
                <a:solidFill>
                  <a:srgbClr val="4A4949"/>
                </a:solidFill>
                <a:latin typeface="Arial"/>
                <a:cs typeface="Arial"/>
              </a:rPr>
              <a:t>behind</a:t>
            </a:r>
            <a:r>
              <a:rPr dirty="0" sz="10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4A4949"/>
                </a:solidFill>
                <a:latin typeface="Arial"/>
                <a:cs typeface="Arial"/>
              </a:rPr>
              <a:t>cancellations.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67392" y="1403667"/>
            <a:ext cx="5185168" cy="29382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3419" y="986358"/>
            <a:ext cx="3225165" cy="444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/>
              <a:t>Ratings</a:t>
            </a:r>
            <a:r>
              <a:rPr dirty="0" sz="2750" spc="-25"/>
              <a:t> </a:t>
            </a:r>
            <a:r>
              <a:rPr dirty="0" sz="2750" spc="-10"/>
              <a:t>Dashboard</a:t>
            </a:r>
            <a:endParaRPr sz="2750"/>
          </a:p>
        </p:txBody>
      </p:sp>
      <p:grpSp>
        <p:nvGrpSpPr>
          <p:cNvPr id="4" name="object 4" descr=""/>
          <p:cNvGrpSpPr/>
          <p:nvPr/>
        </p:nvGrpSpPr>
        <p:grpSpPr>
          <a:xfrm>
            <a:off x="493737" y="1659654"/>
            <a:ext cx="2295525" cy="1285240"/>
            <a:chOff x="493737" y="1659654"/>
            <a:chExt cx="2295525" cy="1285240"/>
          </a:xfrm>
        </p:grpSpPr>
        <p:sp>
          <p:nvSpPr>
            <p:cNvPr id="5" name="object 5" descr=""/>
            <p:cNvSpPr/>
            <p:nvPr/>
          </p:nvSpPr>
          <p:spPr>
            <a:xfrm>
              <a:off x="496119" y="1662036"/>
              <a:ext cx="2291080" cy="1280160"/>
            </a:xfrm>
            <a:custGeom>
              <a:avLst/>
              <a:gdLst/>
              <a:ahLst/>
              <a:cxnLst/>
              <a:rect l="l" t="t" r="r" b="b"/>
              <a:pathLst>
                <a:path w="2291080" h="1280160">
                  <a:moveTo>
                    <a:pt x="2162873" y="0"/>
                  </a:moveTo>
                  <a:lnTo>
                    <a:pt x="127589" y="0"/>
                  </a:lnTo>
                  <a:lnTo>
                    <a:pt x="78125" y="10092"/>
                  </a:lnTo>
                  <a:lnTo>
                    <a:pt x="37547" y="37545"/>
                  </a:lnTo>
                  <a:lnTo>
                    <a:pt x="10093" y="78122"/>
                  </a:lnTo>
                  <a:lnTo>
                    <a:pt x="0" y="127584"/>
                  </a:lnTo>
                  <a:lnTo>
                    <a:pt x="0" y="1152410"/>
                  </a:lnTo>
                  <a:lnTo>
                    <a:pt x="10093" y="1201872"/>
                  </a:lnTo>
                  <a:lnTo>
                    <a:pt x="37547" y="1242448"/>
                  </a:lnTo>
                  <a:lnTo>
                    <a:pt x="78125" y="1269902"/>
                  </a:lnTo>
                  <a:lnTo>
                    <a:pt x="127589" y="1279994"/>
                  </a:lnTo>
                  <a:lnTo>
                    <a:pt x="2162873" y="1279994"/>
                  </a:lnTo>
                  <a:lnTo>
                    <a:pt x="2212337" y="1269902"/>
                  </a:lnTo>
                  <a:lnTo>
                    <a:pt x="2252918" y="1242448"/>
                  </a:lnTo>
                  <a:lnTo>
                    <a:pt x="2280375" y="1201872"/>
                  </a:lnTo>
                  <a:lnTo>
                    <a:pt x="2290470" y="1152410"/>
                  </a:lnTo>
                  <a:lnTo>
                    <a:pt x="2290470" y="127584"/>
                  </a:lnTo>
                  <a:lnTo>
                    <a:pt x="2280375" y="78122"/>
                  </a:lnTo>
                  <a:lnTo>
                    <a:pt x="2252918" y="37545"/>
                  </a:lnTo>
                  <a:lnTo>
                    <a:pt x="2212337" y="10092"/>
                  </a:lnTo>
                  <a:lnTo>
                    <a:pt x="2162873" y="0"/>
                  </a:lnTo>
                  <a:close/>
                </a:path>
              </a:pathLst>
            </a:custGeom>
            <a:solidFill>
              <a:srgbClr val="D1EE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6119" y="1662036"/>
              <a:ext cx="2291080" cy="1280160"/>
            </a:xfrm>
            <a:custGeom>
              <a:avLst/>
              <a:gdLst/>
              <a:ahLst/>
              <a:cxnLst/>
              <a:rect l="l" t="t" r="r" b="b"/>
              <a:pathLst>
                <a:path w="2291080" h="1280160">
                  <a:moveTo>
                    <a:pt x="0" y="127584"/>
                  </a:moveTo>
                  <a:lnTo>
                    <a:pt x="10093" y="78122"/>
                  </a:lnTo>
                  <a:lnTo>
                    <a:pt x="37547" y="37545"/>
                  </a:lnTo>
                  <a:lnTo>
                    <a:pt x="78125" y="10092"/>
                  </a:lnTo>
                  <a:lnTo>
                    <a:pt x="127589" y="0"/>
                  </a:lnTo>
                  <a:lnTo>
                    <a:pt x="2162873" y="0"/>
                  </a:lnTo>
                  <a:lnTo>
                    <a:pt x="2212337" y="10092"/>
                  </a:lnTo>
                  <a:lnTo>
                    <a:pt x="2252918" y="37545"/>
                  </a:lnTo>
                  <a:lnTo>
                    <a:pt x="2280375" y="78122"/>
                  </a:lnTo>
                  <a:lnTo>
                    <a:pt x="2290470" y="127584"/>
                  </a:lnTo>
                  <a:lnTo>
                    <a:pt x="2290470" y="1152410"/>
                  </a:lnTo>
                  <a:lnTo>
                    <a:pt x="2280375" y="1201872"/>
                  </a:lnTo>
                  <a:lnTo>
                    <a:pt x="2252918" y="1242448"/>
                  </a:lnTo>
                  <a:lnTo>
                    <a:pt x="2212337" y="1269902"/>
                  </a:lnTo>
                  <a:lnTo>
                    <a:pt x="2162873" y="1279994"/>
                  </a:lnTo>
                  <a:lnTo>
                    <a:pt x="127589" y="1279994"/>
                  </a:lnTo>
                  <a:lnTo>
                    <a:pt x="78125" y="1269902"/>
                  </a:lnTo>
                  <a:lnTo>
                    <a:pt x="37547" y="1242448"/>
                  </a:lnTo>
                  <a:lnTo>
                    <a:pt x="10093" y="1201872"/>
                  </a:lnTo>
                  <a:lnTo>
                    <a:pt x="0" y="1152410"/>
                  </a:lnTo>
                  <a:lnTo>
                    <a:pt x="0" y="127584"/>
                  </a:lnTo>
                  <a:close/>
                </a:path>
              </a:pathLst>
            </a:custGeom>
            <a:ln w="4762">
              <a:solidFill>
                <a:srgbClr val="B7D4C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29940" y="1792223"/>
            <a:ext cx="1678305" cy="723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Customer</a:t>
            </a:r>
            <a:r>
              <a:rPr dirty="0" sz="1350" spc="-45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4A4949"/>
                </a:solidFill>
                <a:latin typeface="Arial"/>
                <a:cs typeface="Arial"/>
              </a:rPr>
              <a:t>Ratings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Average</a:t>
            </a:r>
            <a:r>
              <a:rPr dirty="0" sz="1100" spc="-3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ratings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given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by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customers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across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all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rides.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925959" y="1659654"/>
            <a:ext cx="2295525" cy="1285240"/>
            <a:chOff x="2925959" y="1659654"/>
            <a:chExt cx="2295525" cy="1285240"/>
          </a:xfrm>
        </p:grpSpPr>
        <p:sp>
          <p:nvSpPr>
            <p:cNvPr id="9" name="object 9" descr=""/>
            <p:cNvSpPr/>
            <p:nvPr/>
          </p:nvSpPr>
          <p:spPr>
            <a:xfrm>
              <a:off x="2928340" y="1662036"/>
              <a:ext cx="2291080" cy="1280160"/>
            </a:xfrm>
            <a:custGeom>
              <a:avLst/>
              <a:gdLst/>
              <a:ahLst/>
              <a:cxnLst/>
              <a:rect l="l" t="t" r="r" b="b"/>
              <a:pathLst>
                <a:path w="2291079" h="1280160">
                  <a:moveTo>
                    <a:pt x="2162949" y="0"/>
                  </a:moveTo>
                  <a:lnTo>
                    <a:pt x="127589" y="0"/>
                  </a:lnTo>
                  <a:lnTo>
                    <a:pt x="78125" y="10092"/>
                  </a:lnTo>
                  <a:lnTo>
                    <a:pt x="37547" y="37545"/>
                  </a:lnTo>
                  <a:lnTo>
                    <a:pt x="10093" y="78122"/>
                  </a:lnTo>
                  <a:lnTo>
                    <a:pt x="0" y="127584"/>
                  </a:lnTo>
                  <a:lnTo>
                    <a:pt x="0" y="1152410"/>
                  </a:lnTo>
                  <a:lnTo>
                    <a:pt x="10093" y="1201872"/>
                  </a:lnTo>
                  <a:lnTo>
                    <a:pt x="37547" y="1242448"/>
                  </a:lnTo>
                  <a:lnTo>
                    <a:pt x="78125" y="1269902"/>
                  </a:lnTo>
                  <a:lnTo>
                    <a:pt x="127589" y="1279994"/>
                  </a:lnTo>
                  <a:lnTo>
                    <a:pt x="2162949" y="1279994"/>
                  </a:lnTo>
                  <a:lnTo>
                    <a:pt x="2212411" y="1269902"/>
                  </a:lnTo>
                  <a:lnTo>
                    <a:pt x="2252987" y="1242448"/>
                  </a:lnTo>
                  <a:lnTo>
                    <a:pt x="2280441" y="1201872"/>
                  </a:lnTo>
                  <a:lnTo>
                    <a:pt x="2290533" y="1152410"/>
                  </a:lnTo>
                  <a:lnTo>
                    <a:pt x="2290533" y="127584"/>
                  </a:lnTo>
                  <a:lnTo>
                    <a:pt x="2280441" y="78122"/>
                  </a:lnTo>
                  <a:lnTo>
                    <a:pt x="2252987" y="37545"/>
                  </a:lnTo>
                  <a:lnTo>
                    <a:pt x="2212411" y="10092"/>
                  </a:lnTo>
                  <a:lnTo>
                    <a:pt x="2162949" y="0"/>
                  </a:lnTo>
                  <a:close/>
                </a:path>
              </a:pathLst>
            </a:custGeom>
            <a:solidFill>
              <a:srgbClr val="D1EE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928340" y="1662036"/>
              <a:ext cx="2291080" cy="1280160"/>
            </a:xfrm>
            <a:custGeom>
              <a:avLst/>
              <a:gdLst/>
              <a:ahLst/>
              <a:cxnLst/>
              <a:rect l="l" t="t" r="r" b="b"/>
              <a:pathLst>
                <a:path w="2291079" h="1280160">
                  <a:moveTo>
                    <a:pt x="0" y="127584"/>
                  </a:moveTo>
                  <a:lnTo>
                    <a:pt x="10093" y="78122"/>
                  </a:lnTo>
                  <a:lnTo>
                    <a:pt x="37547" y="37545"/>
                  </a:lnTo>
                  <a:lnTo>
                    <a:pt x="78125" y="10092"/>
                  </a:lnTo>
                  <a:lnTo>
                    <a:pt x="127589" y="0"/>
                  </a:lnTo>
                  <a:lnTo>
                    <a:pt x="2162949" y="0"/>
                  </a:lnTo>
                  <a:lnTo>
                    <a:pt x="2212411" y="10092"/>
                  </a:lnTo>
                  <a:lnTo>
                    <a:pt x="2252987" y="37545"/>
                  </a:lnTo>
                  <a:lnTo>
                    <a:pt x="2280441" y="78122"/>
                  </a:lnTo>
                  <a:lnTo>
                    <a:pt x="2290533" y="127584"/>
                  </a:lnTo>
                  <a:lnTo>
                    <a:pt x="2290533" y="1152410"/>
                  </a:lnTo>
                  <a:lnTo>
                    <a:pt x="2280441" y="1201872"/>
                  </a:lnTo>
                  <a:lnTo>
                    <a:pt x="2252987" y="1242448"/>
                  </a:lnTo>
                  <a:lnTo>
                    <a:pt x="2212411" y="1269902"/>
                  </a:lnTo>
                  <a:lnTo>
                    <a:pt x="2162949" y="1279994"/>
                  </a:lnTo>
                  <a:lnTo>
                    <a:pt x="127589" y="1279994"/>
                  </a:lnTo>
                  <a:lnTo>
                    <a:pt x="78125" y="1269902"/>
                  </a:lnTo>
                  <a:lnTo>
                    <a:pt x="37547" y="1242448"/>
                  </a:lnTo>
                  <a:lnTo>
                    <a:pt x="10093" y="1201872"/>
                  </a:lnTo>
                  <a:lnTo>
                    <a:pt x="0" y="1152410"/>
                  </a:lnTo>
                  <a:lnTo>
                    <a:pt x="0" y="127584"/>
                  </a:lnTo>
                  <a:close/>
                </a:path>
              </a:pathLst>
            </a:custGeom>
            <a:ln w="4762">
              <a:solidFill>
                <a:srgbClr val="B7D4C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3062160" y="1792223"/>
            <a:ext cx="1757045" cy="946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Driver</a:t>
            </a:r>
            <a:r>
              <a:rPr dirty="0" sz="1350" spc="-20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4A4949"/>
                </a:solidFill>
                <a:latin typeface="Arial"/>
                <a:cs typeface="Arial"/>
              </a:rPr>
              <a:t>Ratings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Average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ratings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received 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by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drivers,</a:t>
            </a:r>
            <a:r>
              <a:rPr dirty="0" sz="11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measuring</a:t>
            </a:r>
            <a:r>
              <a:rPr dirty="0" sz="11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service quality.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93737" y="3081407"/>
            <a:ext cx="4727575" cy="1058545"/>
            <a:chOff x="493737" y="3081407"/>
            <a:chExt cx="4727575" cy="1058545"/>
          </a:xfrm>
        </p:grpSpPr>
        <p:sp>
          <p:nvSpPr>
            <p:cNvPr id="13" name="object 13" descr=""/>
            <p:cNvSpPr/>
            <p:nvPr/>
          </p:nvSpPr>
          <p:spPr>
            <a:xfrm>
              <a:off x="496119" y="3083788"/>
              <a:ext cx="4723130" cy="1053465"/>
            </a:xfrm>
            <a:custGeom>
              <a:avLst/>
              <a:gdLst/>
              <a:ahLst/>
              <a:cxnLst/>
              <a:rect l="l" t="t" r="r" b="b"/>
              <a:pathLst>
                <a:path w="4723130" h="1053464">
                  <a:moveTo>
                    <a:pt x="4595164" y="0"/>
                  </a:moveTo>
                  <a:lnTo>
                    <a:pt x="127593" y="0"/>
                  </a:lnTo>
                  <a:lnTo>
                    <a:pt x="78127" y="10092"/>
                  </a:lnTo>
                  <a:lnTo>
                    <a:pt x="37548" y="37547"/>
                  </a:lnTo>
                  <a:lnTo>
                    <a:pt x="10093" y="78127"/>
                  </a:lnTo>
                  <a:lnTo>
                    <a:pt x="0" y="127596"/>
                  </a:lnTo>
                  <a:lnTo>
                    <a:pt x="0" y="925588"/>
                  </a:lnTo>
                  <a:lnTo>
                    <a:pt x="10093" y="975052"/>
                  </a:lnTo>
                  <a:lnTo>
                    <a:pt x="37548" y="1015633"/>
                  </a:lnTo>
                  <a:lnTo>
                    <a:pt x="78127" y="1043090"/>
                  </a:lnTo>
                  <a:lnTo>
                    <a:pt x="127593" y="1053185"/>
                  </a:lnTo>
                  <a:lnTo>
                    <a:pt x="4595164" y="1053185"/>
                  </a:lnTo>
                  <a:lnTo>
                    <a:pt x="4644634" y="1043090"/>
                  </a:lnTo>
                  <a:lnTo>
                    <a:pt x="4685214" y="1015633"/>
                  </a:lnTo>
                  <a:lnTo>
                    <a:pt x="4712668" y="975052"/>
                  </a:lnTo>
                  <a:lnTo>
                    <a:pt x="4722761" y="925588"/>
                  </a:lnTo>
                  <a:lnTo>
                    <a:pt x="4722761" y="127596"/>
                  </a:lnTo>
                  <a:lnTo>
                    <a:pt x="4712668" y="78127"/>
                  </a:lnTo>
                  <a:lnTo>
                    <a:pt x="4685214" y="37547"/>
                  </a:lnTo>
                  <a:lnTo>
                    <a:pt x="4644634" y="10092"/>
                  </a:lnTo>
                  <a:lnTo>
                    <a:pt x="4595164" y="0"/>
                  </a:lnTo>
                  <a:close/>
                </a:path>
              </a:pathLst>
            </a:custGeom>
            <a:solidFill>
              <a:srgbClr val="D1EE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96119" y="3083788"/>
              <a:ext cx="4723130" cy="1053465"/>
            </a:xfrm>
            <a:custGeom>
              <a:avLst/>
              <a:gdLst/>
              <a:ahLst/>
              <a:cxnLst/>
              <a:rect l="l" t="t" r="r" b="b"/>
              <a:pathLst>
                <a:path w="4723130" h="1053464">
                  <a:moveTo>
                    <a:pt x="0" y="127596"/>
                  </a:moveTo>
                  <a:lnTo>
                    <a:pt x="10093" y="78127"/>
                  </a:lnTo>
                  <a:lnTo>
                    <a:pt x="37548" y="37547"/>
                  </a:lnTo>
                  <a:lnTo>
                    <a:pt x="78127" y="10092"/>
                  </a:lnTo>
                  <a:lnTo>
                    <a:pt x="127593" y="0"/>
                  </a:lnTo>
                  <a:lnTo>
                    <a:pt x="4595164" y="0"/>
                  </a:lnTo>
                  <a:lnTo>
                    <a:pt x="4644634" y="10092"/>
                  </a:lnTo>
                  <a:lnTo>
                    <a:pt x="4685214" y="37547"/>
                  </a:lnTo>
                  <a:lnTo>
                    <a:pt x="4712668" y="78127"/>
                  </a:lnTo>
                  <a:lnTo>
                    <a:pt x="4722761" y="127596"/>
                  </a:lnTo>
                  <a:lnTo>
                    <a:pt x="4722761" y="925588"/>
                  </a:lnTo>
                  <a:lnTo>
                    <a:pt x="4712668" y="975052"/>
                  </a:lnTo>
                  <a:lnTo>
                    <a:pt x="4685214" y="1015633"/>
                  </a:lnTo>
                  <a:lnTo>
                    <a:pt x="4644634" y="1043090"/>
                  </a:lnTo>
                  <a:lnTo>
                    <a:pt x="4595164" y="1053185"/>
                  </a:lnTo>
                  <a:lnTo>
                    <a:pt x="127593" y="1053185"/>
                  </a:lnTo>
                  <a:lnTo>
                    <a:pt x="78127" y="1043090"/>
                  </a:lnTo>
                  <a:lnTo>
                    <a:pt x="37548" y="1015633"/>
                  </a:lnTo>
                  <a:lnTo>
                    <a:pt x="10093" y="975052"/>
                  </a:lnTo>
                  <a:lnTo>
                    <a:pt x="0" y="925588"/>
                  </a:lnTo>
                  <a:lnTo>
                    <a:pt x="0" y="127596"/>
                  </a:lnTo>
                  <a:close/>
                </a:path>
              </a:pathLst>
            </a:custGeom>
            <a:ln w="4762">
              <a:solidFill>
                <a:srgbClr val="B7D4C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629940" y="3213976"/>
            <a:ext cx="3868420" cy="723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 b="1">
                <a:solidFill>
                  <a:srgbClr val="4A4949"/>
                </a:solidFill>
                <a:latin typeface="Arial"/>
                <a:cs typeface="Arial"/>
              </a:rPr>
              <a:t>Vehicle-</a:t>
            </a: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wise</a:t>
            </a:r>
            <a:r>
              <a:rPr dirty="0" sz="1350" spc="10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Rating</a:t>
            </a:r>
            <a:r>
              <a:rPr dirty="0" sz="1350" spc="10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4A4949"/>
                </a:solidFill>
                <a:latin typeface="Arial"/>
                <a:cs typeface="Arial"/>
              </a:rPr>
              <a:t>Comparison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Rating</a:t>
            </a:r>
            <a:r>
              <a:rPr dirty="0" sz="1100" spc="-3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breakdown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segmented</a:t>
            </a:r>
            <a:r>
              <a:rPr dirty="0" sz="1100" spc="-3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by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vehicle</a:t>
            </a:r>
            <a:r>
              <a:rPr dirty="0" sz="1100" spc="-3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type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for</a:t>
            </a:r>
            <a:r>
              <a:rPr dirty="0" sz="1100" spc="-3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performance benchmarking.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3419" y="920278"/>
            <a:ext cx="5670550" cy="444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/>
              <a:t>Key</a:t>
            </a:r>
            <a:r>
              <a:rPr dirty="0" sz="2750" spc="-15"/>
              <a:t> </a:t>
            </a:r>
            <a:r>
              <a:rPr dirty="0" sz="2750"/>
              <a:t>Insights</a:t>
            </a:r>
            <a:r>
              <a:rPr dirty="0" sz="2750" spc="-15"/>
              <a:t> </a:t>
            </a:r>
            <a:r>
              <a:rPr dirty="0" sz="2750"/>
              <a:t>&amp;</a:t>
            </a:r>
            <a:r>
              <a:rPr dirty="0" sz="2750" spc="-10"/>
              <a:t> Recommendations</a:t>
            </a:r>
            <a:endParaRPr sz="2750"/>
          </a:p>
        </p:txBody>
      </p:sp>
      <p:sp>
        <p:nvSpPr>
          <p:cNvPr id="3" name="object 3" descr=""/>
          <p:cNvSpPr/>
          <p:nvPr/>
        </p:nvSpPr>
        <p:spPr>
          <a:xfrm>
            <a:off x="496119" y="1888782"/>
            <a:ext cx="4005579" cy="19050"/>
          </a:xfrm>
          <a:custGeom>
            <a:avLst/>
            <a:gdLst/>
            <a:ahLst/>
            <a:cxnLst/>
            <a:rect l="l" t="t" r="r" b="b"/>
            <a:pathLst>
              <a:path w="4005579" h="19050">
                <a:moveTo>
                  <a:pt x="4004970" y="0"/>
                </a:moveTo>
                <a:lnTo>
                  <a:pt x="0" y="0"/>
                </a:lnTo>
                <a:lnTo>
                  <a:pt x="0" y="19050"/>
                </a:lnTo>
                <a:lnTo>
                  <a:pt x="4004970" y="19050"/>
                </a:lnTo>
                <a:lnTo>
                  <a:pt x="4004970" y="0"/>
                </a:lnTo>
                <a:close/>
              </a:path>
            </a:pathLst>
          </a:custGeom>
          <a:solidFill>
            <a:srgbClr val="0067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630140" y="1655991"/>
            <a:ext cx="1809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02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4642840" y="1888782"/>
            <a:ext cx="4005579" cy="19050"/>
          </a:xfrm>
          <a:custGeom>
            <a:avLst/>
            <a:gdLst/>
            <a:ahLst/>
            <a:cxnLst/>
            <a:rect l="l" t="t" r="r" b="b"/>
            <a:pathLst>
              <a:path w="4005579" h="19050">
                <a:moveTo>
                  <a:pt x="4005033" y="0"/>
                </a:moveTo>
                <a:lnTo>
                  <a:pt x="0" y="0"/>
                </a:lnTo>
                <a:lnTo>
                  <a:pt x="0" y="19050"/>
                </a:lnTo>
                <a:lnTo>
                  <a:pt x="4005033" y="19050"/>
                </a:lnTo>
                <a:lnTo>
                  <a:pt x="4005033" y="0"/>
                </a:lnTo>
                <a:close/>
              </a:path>
            </a:pathLst>
          </a:custGeom>
          <a:solidFill>
            <a:srgbClr val="0067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4630140" y="1981390"/>
            <a:ext cx="3944620" cy="500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Reduce</a:t>
            </a:r>
            <a:r>
              <a:rPr dirty="0" sz="1350" spc="-25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4A4949"/>
                </a:solidFill>
                <a:latin typeface="Arial"/>
                <a:cs typeface="Arial"/>
              </a:rPr>
              <a:t>Cancellations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Target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top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cancellation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reasons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with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operational improvements.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496119" y="3227781"/>
            <a:ext cx="4005579" cy="19050"/>
          </a:xfrm>
          <a:custGeom>
            <a:avLst/>
            <a:gdLst/>
            <a:ahLst/>
            <a:cxnLst/>
            <a:rect l="l" t="t" r="r" b="b"/>
            <a:pathLst>
              <a:path w="4005579" h="19050">
                <a:moveTo>
                  <a:pt x="4004970" y="0"/>
                </a:moveTo>
                <a:lnTo>
                  <a:pt x="0" y="0"/>
                </a:lnTo>
                <a:lnTo>
                  <a:pt x="0" y="19050"/>
                </a:lnTo>
                <a:lnTo>
                  <a:pt x="4004970" y="19050"/>
                </a:lnTo>
                <a:lnTo>
                  <a:pt x="4004970" y="0"/>
                </a:lnTo>
                <a:close/>
              </a:path>
            </a:pathLst>
          </a:custGeom>
          <a:solidFill>
            <a:srgbClr val="0067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83419" y="1655991"/>
            <a:ext cx="3829050" cy="2387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01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Improve</a:t>
            </a:r>
            <a:r>
              <a:rPr dirty="0" sz="1350" spc="-20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Driver</a:t>
            </a:r>
            <a:r>
              <a:rPr dirty="0" sz="1350" spc="-15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4A4949"/>
                </a:solidFill>
                <a:latin typeface="Arial"/>
                <a:cs typeface="Arial"/>
              </a:rPr>
              <a:t>Availability</a:t>
            </a:r>
            <a:endParaRPr sz="1350">
              <a:latin typeface="Arial"/>
              <a:cs typeface="Arial"/>
            </a:endParaRPr>
          </a:p>
          <a:p>
            <a:pPr marL="12700" marR="422909">
              <a:lnSpc>
                <a:spcPct val="133000"/>
              </a:lnSpc>
              <a:spcBef>
                <a:spcPts val="365"/>
              </a:spcBef>
            </a:pP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Address</a:t>
            </a:r>
            <a:r>
              <a:rPr dirty="0" sz="11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gaps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in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driver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supply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to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reduce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wait</a:t>
            </a:r>
            <a:r>
              <a:rPr dirty="0" sz="11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times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and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cancellations.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03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Focus</a:t>
            </a:r>
            <a:r>
              <a:rPr dirty="0" sz="1350" spc="-20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on</a:t>
            </a:r>
            <a:r>
              <a:rPr dirty="0" sz="1350" spc="-20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4A4949"/>
                </a:solidFill>
                <a:latin typeface="Arial"/>
                <a:cs typeface="Arial"/>
              </a:rPr>
              <a:t>High-</a:t>
            </a: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Performing</a:t>
            </a:r>
            <a:r>
              <a:rPr dirty="0" sz="1350" spc="-20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4A4949"/>
                </a:solidFill>
                <a:latin typeface="Arial"/>
                <a:cs typeface="Arial"/>
              </a:rPr>
              <a:t>Vehicles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Prioritize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investment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in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vehicle</a:t>
            </a:r>
            <a:r>
              <a:rPr dirty="0" sz="1100" spc="-2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categories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with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strong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booking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and</a:t>
            </a:r>
            <a:r>
              <a:rPr dirty="0" sz="1100" spc="-3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rating</a:t>
            </a: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performance.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630140" y="2994990"/>
            <a:ext cx="1809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4A4949"/>
                </a:solidFill>
                <a:latin typeface="Arial"/>
                <a:cs typeface="Arial"/>
              </a:rPr>
              <a:t>04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4642840" y="3227781"/>
            <a:ext cx="4005579" cy="19050"/>
          </a:xfrm>
          <a:custGeom>
            <a:avLst/>
            <a:gdLst/>
            <a:ahLst/>
            <a:cxnLst/>
            <a:rect l="l" t="t" r="r" b="b"/>
            <a:pathLst>
              <a:path w="4005579" h="19050">
                <a:moveTo>
                  <a:pt x="4005033" y="0"/>
                </a:moveTo>
                <a:lnTo>
                  <a:pt x="0" y="0"/>
                </a:lnTo>
                <a:lnTo>
                  <a:pt x="0" y="19050"/>
                </a:lnTo>
                <a:lnTo>
                  <a:pt x="4005033" y="19050"/>
                </a:lnTo>
                <a:lnTo>
                  <a:pt x="4005033" y="0"/>
                </a:lnTo>
                <a:close/>
              </a:path>
            </a:pathLst>
          </a:custGeom>
          <a:solidFill>
            <a:srgbClr val="0067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4630140" y="3320389"/>
            <a:ext cx="3418840" cy="723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Improve</a:t>
            </a:r>
            <a:r>
              <a:rPr dirty="0" sz="1350" spc="-30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4A4949"/>
                </a:solidFill>
                <a:latin typeface="Arial"/>
                <a:cs typeface="Arial"/>
              </a:rPr>
              <a:t>Customer</a:t>
            </a:r>
            <a:r>
              <a:rPr dirty="0" sz="1350" spc="-30" b="1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4A4949"/>
                </a:solidFill>
                <a:latin typeface="Arial"/>
                <a:cs typeface="Arial"/>
              </a:rPr>
              <a:t>Retention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Leverage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top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customer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data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and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ratings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to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4949"/>
                </a:solidFill>
                <a:latin typeface="Arial"/>
                <a:cs typeface="Arial"/>
              </a:rPr>
              <a:t>build</a:t>
            </a:r>
            <a:r>
              <a:rPr dirty="0" sz="1100" spc="-15">
                <a:solidFill>
                  <a:srgbClr val="4A494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4949"/>
                </a:solidFill>
                <a:latin typeface="Arial"/>
                <a:cs typeface="Arial"/>
              </a:rPr>
              <a:t>loyalty programs.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2026-07-04T13:09:24Z</dcterms:created>
  <dcterms:modified xsi:type="dcterms:W3CDTF">2026-07-04T13:09:24Z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2026-07-04T00:00:00Z</vt:filetime>
  </property>
  <property fmtid="{D5CDD505-2E9C-101B-9397-08002B2CF9AE}" pid="3" name="LastSaved">
    <vt:filetime>2026-07-04T00:00:00Z</vt:filetime>
  </property>
  <property fmtid="{D5CDD505-2E9C-101B-9397-08002B2CF9AE}" pid="4" name="Producer">
    <vt:lpwstr>3-Heights(TM) PDF Security Shell 4.8.25.2 (http://www.pdf-tools.com)</vt:lpwstr>
  </property>
</Properties>
</file>